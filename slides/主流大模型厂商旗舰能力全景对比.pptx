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 type="custom"/>
  <p:notesSz cx="12192000" cy="6858000"/>
  <p:embeddedFontLst>
    <p:embeddedFont>
      <p:font typeface="MiSans" charset="-122" pitchFamily="34"/>
      <p:regular r:id="rId24"/>
    </p:embeddedFont>
    <p:embeddedFont>
      <p:font typeface="Alimama ShuHeiTi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_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_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_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C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1684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400" kern="0">
                <a:solidFill>
                  <a:srgbClr val="E8B04B"/>
                </a:solidFill>
                <a:latin typeface="MiSans"/>
                <a:ea typeface="MiSans"/>
              </a:rPr>
              <a:t>2026 AI 峰会 · 行业全景观察（25–30 分钟 + 问答）</a:t>
            </a:r>
            <a:endParaRPr lang="en-US" sz="1200" noProof="1"/>
          </a:p>
        </p:txBody>
      </p:sp>
      <p:sp>
        <p:nvSpPr>
          <p:cNvPr id="3" name="rule1"/>
          <p:cNvSpPr/>
          <p:nvPr/>
        </p:nvSpPr>
        <p:spPr>
          <a:xfrm>
            <a:off x="812800" y="1625600"/>
            <a:ext cx="914400" cy="50800"/>
          </a:xfrm>
          <a:prstGeom prst="rect">
            <a:avLst/>
          </a:prstGeom>
          <a:solidFill>
            <a:srgbClr val="E8B04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12800" y="2057400"/>
            <a:ext cx="10566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4600" noProof="1">
                <a:solidFill>
                  <a:srgbClr val="F7F5F0"/>
                </a:solidFill>
                <a:latin typeface="Alimama ShuHeiTi"/>
                <a:ea typeface="Alimama ShuHeiTi"/>
              </a:rPr>
              <a:t>三强轮庄与中国开源阵营的崛起</a:t>
            </a:r>
            <a:endParaRPr lang="en-US" sz="4600" noProof="1"/>
          </a:p>
          <a:p>
            <a:pPr>
              <a:lnSpc>
                <a:spcPct val="130000"/>
              </a:lnSpc>
            </a:pPr>
            <a:r>
              <a:rPr lang="en-US" sz="2600" noProof="1">
                <a:solidFill>
                  <a:srgbClr val="B9BDC4"/>
                </a:solidFill>
                <a:latin typeface="Alimama ShuHeiTi"/>
                <a:ea typeface="Alimama ShuHeiTi"/>
              </a:rPr>
              <a:t>2026 年主流大模型厂商旗舰能力对比：能力、价格与选型全景</a:t>
            </a:r>
            <a:endParaRPr lang="en-US" sz="46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4013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DC4"/>
                </a:solidFill>
                <a:latin typeface="MiSans"/>
                <a:ea typeface="MiSans"/>
              </a:rPr>
              <a:t>调研时间 2026 年 10 月 5 日 · 基于 100+ 个公开来源交叉验证</a:t>
            </a:r>
            <a:endParaRPr lang="en-US" sz="1400" noProof="1"/>
          </a:p>
        </p:txBody>
      </p:sp>
      <p:sp>
        <p:nvSpPr>
          <p:cNvPr id="6" name="vendors"/>
          <p:cNvSpPr txBox="1"/>
          <p:nvPr/>
        </p:nvSpPr>
        <p:spPr>
          <a:xfrm>
            <a:off x="812800" y="53340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7C828A"/>
                </a:solidFill>
                <a:latin typeface="MiSans"/>
                <a:ea typeface="MiSans"/>
              </a:rPr>
              <a:t>OpenAI / Anthropic / Google / xAI / Meta / Mistral / DeepSeek / 阿里巴巴 / 月之暗面 / 智谱 / 字节跳动 / MiniMax</a:t>
            </a:r>
            <a:endParaRPr lang="en-US" sz="1100" noProof="1"/>
          </a:p>
        </p:txBody>
      </p:sp>
      <p:sp>
        <p:nvSpPr>
          <p:cNvPr id="7" name="rule2"/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3A3D42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核心结论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三个判断：三强轮庄，中国开源进入全球前十，没有全能冠军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n1"/>
          <p:cNvSpPr txBox="1"/>
          <p:nvPr/>
        </p:nvSpPr>
        <p:spPr>
          <a:xfrm>
            <a:off x="609600" y="16256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C4532E"/>
                </a:solidFill>
                <a:latin typeface="Alimama ShuHeiTi"/>
                <a:ea typeface="Alimama ShuHeiTi"/>
              </a:rPr>
              <a:t>57.6</a:t>
            </a:r>
            <a:endParaRPr lang="en-US" sz="4000" noProof="1"/>
          </a:p>
        </p:txBody>
      </p:sp>
      <p:sp>
        <p:nvSpPr>
          <p:cNvPr id="6" name="n1cap"/>
          <p:cNvSpPr txBox="1"/>
          <p:nvPr/>
        </p:nvSpPr>
        <p:spPr>
          <a:xfrm>
            <a:off x="609600" y="2260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Opus 5.5 登顶 AA 智能指数</a:t>
            </a:r>
            <a:endParaRPr lang="en-US" sz="1000" noProof="1"/>
          </a:p>
        </p:txBody>
      </p:sp>
      <p:sp>
        <p:nvSpPr>
          <p:cNvPr id="7" name="t1"/>
          <p:cNvSpPr txBox="1"/>
          <p:nvPr/>
        </p:nvSpPr>
        <p:spPr>
          <a:xfrm>
            <a:off x="3556000" y="1625600"/>
            <a:ext cx="802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三强交替领跑。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仅 2026 年 9 月，Arena 文本榜冠军三度易主（GPT-6 Astra → Opus 5.5 → Gemini 4 Argon 1524.8 Elo）。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预测市场认为 Anthropic 有 71% 概率在年底持有最佳模型，但四家评估值非常接近。</a:t>
            </a:r>
            <a:endParaRPr lang="en-US" sz="1300" noProof="1"/>
          </a:p>
        </p:txBody>
      </p:sp>
      <p:sp>
        <p:nvSpPr>
          <p:cNvPr id="8" name="sep1"/>
          <p:cNvSpPr/>
          <p:nvPr/>
        </p:nvSpPr>
        <p:spPr>
          <a:xfrm>
            <a:off x="609600" y="27686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609600" y="30988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2E5E4E"/>
                </a:solidFill>
                <a:latin typeface="Alimama ShuHeiTi"/>
                <a:ea typeface="Alimama ShuHeiTi"/>
              </a:rPr>
              <a:t>1/5–1/60</a:t>
            </a:r>
            <a:endParaRPr lang="en-US" sz="4000" noProof="1"/>
          </a:p>
        </p:txBody>
      </p:sp>
      <p:sp>
        <p:nvSpPr>
          <p:cNvPr id="10" name="n2cap"/>
          <p:cNvSpPr txBox="1"/>
          <p:nvPr/>
        </p:nvSpPr>
        <p:spPr>
          <a:xfrm>
            <a:off x="609600" y="3733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中国开源旗舰相对美系旗舰的 API 价格</a:t>
            </a:r>
            <a:endParaRPr lang="en-US" sz="1000" noProof="1"/>
          </a:p>
        </p:txBody>
      </p:sp>
      <p:sp>
        <p:nvSpPr>
          <p:cNvPr id="11" name="t2"/>
          <p:cNvSpPr txBox="1"/>
          <p:nvPr/>
        </p:nvSpPr>
        <p:spPr>
          <a:xfrm>
            <a:off x="3556000" y="3098800"/>
            <a:ext cx="802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中国开源阵营全面跟进。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DeepSeek V4 Pro、Qwen3.8-Max、Kimi K3、GLM-5.3 四款开源权重旗舰跻身全球综合能力前十至前十五。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美国开源旗舰（Llama）退场后，开源能力榜前列已全面由中国厂商占据。</a:t>
            </a:r>
            <a:endParaRPr lang="en-US" sz="1300" noProof="1"/>
          </a:p>
        </p:txBody>
      </p:sp>
      <p:sp>
        <p:nvSpPr>
          <p:cNvPr id="12" name="sep2"/>
          <p:cNvSpPr/>
          <p:nvPr/>
        </p:nvSpPr>
        <p:spPr>
          <a:xfrm>
            <a:off x="609600" y="42418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609600" y="45720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C4532E"/>
                </a:solidFill>
                <a:latin typeface="Alimama ShuHeiTi"/>
                <a:ea typeface="Alimama ShuHeiTi"/>
              </a:rPr>
              <a:t>0 个</a:t>
            </a:r>
            <a:endParaRPr lang="en-US" sz="4000" noProof="1"/>
          </a:p>
        </p:txBody>
      </p:sp>
      <p:sp>
        <p:nvSpPr>
          <p:cNvPr id="14" name="n3cap"/>
          <p:cNvSpPr txBox="1"/>
          <p:nvPr/>
        </p:nvSpPr>
        <p:spPr>
          <a:xfrm>
            <a:off x="609600" y="5207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2026 年「全面最强」的模型数量</a:t>
            </a:r>
            <a:endParaRPr lang="en-US" sz="1000" noProof="1"/>
          </a:p>
        </p:txBody>
      </p:sp>
      <p:sp>
        <p:nvSpPr>
          <p:cNvPr id="15" name="t3"/>
          <p:cNvSpPr txBox="1"/>
          <p:nvPr/>
        </p:nvSpPr>
        <p:spPr>
          <a:xfrm>
            <a:off x="3556000" y="4572000"/>
            <a:ext cx="8026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不存在全能冠军。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编码、推理、多模态、成本四个轴上的领跑者各不相同。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选型的正确姿势是「按场景选档位」，而不是追榜单冠军。</a:t>
            </a:r>
            <a:endParaRPr lang="en-US" sz="1300" noProof="1"/>
          </a:p>
        </p:txBody>
      </p:sp>
      <p:sp>
        <p:nvSpPr>
          <p:cNvPr id="16" name="footer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来源：Artificial Analysis、LMArena、Kalshi、各厂商官方公告（2026-09/10）</a:t>
            </a:r>
            <a:endParaRPr lang="en-US" sz="1000" noProof="1"/>
          </a:p>
        </p:txBody>
      </p:sp>
      <p:sp>
        <p:nvSpPr>
          <p:cNvPr id="17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认知底座 · 一分钟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听懂本场演讲，只需要四个白话概念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c1h"/>
          <p:cNvSpPr txBox="1"/>
          <p:nvPr/>
        </p:nvSpPr>
        <p:spPr>
          <a:xfrm>
            <a:off x="609600" y="1549400"/>
            <a:ext cx="528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C4532E"/>
                </a:solidFill>
                <a:latin typeface="Alimama ShuHeiTi"/>
                <a:ea typeface="Alimama ShuHeiTi"/>
              </a:rPr>
              <a:t>Token —— 计费的最小单位</a:t>
            </a:r>
            <a:endParaRPr lang="en-US" sz="1700" noProof="1"/>
          </a:p>
        </p:txBody>
      </p:sp>
      <p:sp>
        <p:nvSpPr>
          <p:cNvPr id="6" name="c1b"/>
          <p:cNvSpPr txBox="1"/>
          <p:nvPr/>
        </p:nvSpPr>
        <p:spPr>
          <a:xfrm>
            <a:off x="609600" y="1955800"/>
            <a:ext cx="528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模型读写文字按 token 计量。100 万 token ≈ 60–80 万汉字。报价「$2/$10」即每处理 100 万个输入/输出 token 的美元价——这是后文所有价格对比的单位。</a:t>
            </a:r>
            <a:endParaRPr lang="en-US" sz="1300" noProof="1"/>
          </a:p>
        </p:txBody>
      </p:sp>
      <p:sp>
        <p:nvSpPr>
          <p:cNvPr id="7" name="sep1"/>
          <p:cNvSpPr/>
          <p:nvPr/>
        </p:nvSpPr>
        <p:spPr>
          <a:xfrm>
            <a:off x="609600" y="3327400"/>
            <a:ext cx="52832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8" name="c2h"/>
          <p:cNvSpPr txBox="1"/>
          <p:nvPr/>
        </p:nvSpPr>
        <p:spPr>
          <a:xfrm>
            <a:off x="609600" y="3530600"/>
            <a:ext cx="528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C4532E"/>
                </a:solidFill>
                <a:latin typeface="Alimama ShuHeiTi"/>
                <a:ea typeface="Alimama ShuHeiTi"/>
              </a:rPr>
              <a:t>上下文窗口 —— 模型的工作台</a:t>
            </a:r>
            <a:endParaRPr lang="en-US" sz="1700" noProof="1"/>
          </a:p>
        </p:txBody>
      </p:sp>
      <p:sp>
        <p:nvSpPr>
          <p:cNvPr id="9" name="c2b"/>
          <p:cNvSpPr txBox="1"/>
          <p:nvPr/>
        </p:nvSpPr>
        <p:spPr>
          <a:xfrm>
            <a:off x="609600" y="3937000"/>
            <a:ext cx="528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一次对话能「同时看到」的内容总量。1M token 的窗口可一次性放进两三本长篇小说。2026 年它已成为旗舰标配，差异转向「有效上下文」与「最大输出长度」。</a:t>
            </a:r>
            <a:endParaRPr lang="en-US" sz="1300" noProof="1"/>
          </a:p>
        </p:txBody>
      </p:sp>
      <p:sp>
        <p:nvSpPr>
          <p:cNvPr id="10" name="c3h"/>
          <p:cNvSpPr txBox="1"/>
          <p:nvPr/>
        </p:nvSpPr>
        <p:spPr>
          <a:xfrm>
            <a:off x="6299200" y="1549400"/>
            <a:ext cx="528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2E5E4E"/>
                </a:solidFill>
                <a:latin typeface="Alimama ShuHeiTi"/>
                <a:ea typeface="Alimama ShuHeiTi"/>
              </a:rPr>
              <a:t>智能体 —— 从聊天到干活</a:t>
            </a:r>
            <a:endParaRPr lang="en-US" sz="1700" noProof="1"/>
          </a:p>
        </p:txBody>
      </p:sp>
      <p:sp>
        <p:nvSpPr>
          <p:cNvPr id="11" name="c3b"/>
          <p:cNvSpPr txBox="1"/>
          <p:nvPr/>
        </p:nvSpPr>
        <p:spPr>
          <a:xfrm>
            <a:off x="6299200" y="1955800"/>
            <a:ext cx="528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不止于问答：能自己拆解任务、调用工具、连续多步执行并自我纠错，例如自动修复 bug、自动完成调研。这是 2026 年厂商投入最密集的能力方向。</a:t>
            </a:r>
            <a:endParaRPr lang="en-US" sz="1300" noProof="1"/>
          </a:p>
        </p:txBody>
      </p:sp>
      <p:sp>
        <p:nvSpPr>
          <p:cNvPr id="12" name="sep2"/>
          <p:cNvSpPr/>
          <p:nvPr/>
        </p:nvSpPr>
        <p:spPr>
          <a:xfrm>
            <a:off x="6299200" y="3327400"/>
            <a:ext cx="52832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3" name="c4h"/>
          <p:cNvSpPr txBox="1"/>
          <p:nvPr/>
        </p:nvSpPr>
        <p:spPr>
          <a:xfrm>
            <a:off x="6299200" y="3530600"/>
            <a:ext cx="528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2E5E4E"/>
                </a:solidFill>
                <a:latin typeface="Alimama ShuHeiTi"/>
                <a:ea typeface="Alimama ShuHeiTi"/>
              </a:rPr>
              <a:t>开源权重 —— 数据主权的前提</a:t>
            </a:r>
            <a:endParaRPr lang="en-US" sz="1700" noProof="1"/>
          </a:p>
        </p:txBody>
      </p:sp>
      <p:sp>
        <p:nvSpPr>
          <p:cNvPr id="14" name="c4b"/>
          <p:cNvSpPr txBox="1"/>
          <p:nvPr/>
        </p:nvSpPr>
        <p:spPr>
          <a:xfrm>
            <a:off x="6299200" y="3937000"/>
            <a:ext cx="528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公开模型的「参数文件」，下载后可在自己的服务器运行，数据不出内网。对受数据安全监管约束的行业，这几乎是唯一合规路径——也是本场报告后半段的主线。</a:t>
            </a:r>
            <a:endParaRPr lang="en-US" sz="1300" noProof="1"/>
          </a:p>
        </p:txBody>
      </p:sp>
      <p:sp>
        <p:nvSpPr>
          <p:cNvPr id="15" name="note"/>
          <p:cNvSpPr txBox="1"/>
          <p:nvPr/>
        </p:nvSpPr>
        <p:spPr>
          <a:xfrm>
            <a:off x="609600" y="54356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B7078"/>
                </a:solidFill>
                <a:latin typeface="MiSans"/>
                <a:ea typeface="MiSans"/>
              </a:rPr>
              <a:t>另需知晓：「基准测试」是给模型的标准化考试，不同试卷（版本）分数不可直接比较；本报告所有排名均为 2026 年 10 月初的时间快照。完整术语表见报告附录。</a:t>
            </a:r>
            <a:endParaRPr lang="en-US" sz="1200" noProof="1"/>
          </a:p>
        </p:txBody>
      </p:sp>
      <p:sp>
        <p:nvSpPr>
          <p:cNvPr id="16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竞争格局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从「一超多强」到「三强轮庄」，头部差距史上最小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pic>
        <p:nvPicPr>
          <p:cNvPr id="5" name="chart"/>
          <p:cNvPicPr/>
          <p:nvPr/>
        </p:nvPicPr>
        <p:blipFill>
          <a:blip r:embed="rId2"/>
          <a:srcRect t="-663" b="-663"/>
          <a:stretch>
            <a:fillRect/>
          </a:stretch>
        </p:blipFill>
        <p:spPr>
          <a:xfrm>
            <a:off x="609600" y="1422400"/>
            <a:ext cx="7366000" cy="4851400"/>
          </a:xfrm>
          <a:prstGeom prst="rect">
            <a:avLst/>
          </a:prstGeom>
          <a:ln>
            <a:noFill/>
          </a:ln>
        </p:spPr>
      </p:pic>
      <p:sp>
        <p:nvSpPr>
          <p:cNvPr id="6" name="chart-border"/>
          <p:cNvSpPr/>
          <p:nvPr/>
        </p:nvSpPr>
        <p:spPr>
          <a:xfrm>
            <a:off x="609600" y="1422400"/>
            <a:ext cx="7366000" cy="4851400"/>
          </a:xfrm>
          <a:prstGeom prst="rect">
            <a:avLst/>
          </a:prstGeom>
          <a:noFill/>
          <a:ln w="12700">
            <a:solidFill>
              <a:srgbClr val="E4E0D6"/>
            </a:solidFill>
          </a:ln>
        </p:spPr>
      </p:sp>
      <p:sp>
        <p:nvSpPr>
          <p:cNvPr id="7" name="p1"/>
          <p:cNvSpPr txBox="1"/>
          <p:nvPr/>
        </p:nvSpPr>
        <p:spPr>
          <a:xfrm>
            <a:off x="8382000" y="1498600"/>
            <a:ext cx="32004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9 月冠军三度易主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GPT-6 Astra（9/3）→ Opus 5.5（9/22）→ Gemini 4 Argon（9/30，1524.8 Elo 登顶 Arena 文本榜）。</a:t>
            </a:r>
            <a:endParaRPr lang="en-US" sz="1300" noProof="1"/>
          </a:p>
        </p:txBody>
      </p:sp>
      <p:sp>
        <p:nvSpPr>
          <p:cNvPr id="8" name="sep1"/>
          <p:cNvSpPr/>
          <p:nvPr/>
        </p:nvSpPr>
        <p:spPr>
          <a:xfrm>
            <a:off x="8382000" y="3124200"/>
            <a:ext cx="3200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9" name="p2"/>
          <p:cNvSpPr txBox="1"/>
          <p:nvPr/>
        </p:nvSpPr>
        <p:spPr>
          <a:xfrm>
            <a:off x="8382000" y="3327400"/>
            <a:ext cx="3200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前五名仅差 5 分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AA 智能指数历史上最拥挤的头部区间；任何一家都可能在下个季度领先。</a:t>
            </a:r>
            <a:endParaRPr lang="en-US" sz="1300" noProof="1"/>
          </a:p>
        </p:txBody>
      </p:sp>
      <p:sp>
        <p:nvSpPr>
          <p:cNvPr id="10" name="sep2"/>
          <p:cNvSpPr/>
          <p:nvPr/>
        </p:nvSpPr>
        <p:spPr>
          <a:xfrm>
            <a:off x="8382000" y="4851400"/>
            <a:ext cx="3200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1" name="p3"/>
          <p:cNvSpPr txBox="1"/>
          <p:nvPr/>
        </p:nvSpPr>
        <p:spPr>
          <a:xfrm>
            <a:off x="8382000" y="5054600"/>
            <a:ext cx="3200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第二梯队换血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xAI 月度迭代稳居第四；Meta 关闭 Llama 前沿路线；中国六家旗舰 7–9 月密集换代。</a:t>
            </a:r>
            <a:endParaRPr lang="en-US" sz="1300" noProof="1"/>
          </a:p>
        </p:txBody>
      </p:sp>
      <p:sp>
        <p:nvSpPr>
          <p:cNvPr id="12" name="footer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来源：Artificial Analysis、LMArena、Kalshi 预测市场、Crypto Briefing（2026-09/10）</a:t>
            </a:r>
            <a:endParaRPr lang="en-US" sz="1000" noProof="1"/>
          </a:p>
        </p:txBody>
      </p:sp>
      <p:sp>
        <p:nvSpPr>
          <p:cNvPr id="13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竞争格局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旗舰迭代缩短至 6–10 周，产品线收敛为「三档」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pic>
        <p:nvPicPr>
          <p:cNvPr id="5" name="chart"/>
          <p:cNvPicPr/>
          <p:nvPr/>
        </p:nvPicPr>
        <p:blipFill>
          <a:blip r:embed="rId2"/>
          <a:srcRect t="-15918" b="-15918"/>
          <a:stretch>
            <a:fillRect/>
          </a:stretch>
        </p:blipFill>
        <p:spPr>
          <a:xfrm>
            <a:off x="609600" y="1371600"/>
            <a:ext cx="7112000" cy="4445000"/>
          </a:xfrm>
          <a:prstGeom prst="rect">
            <a:avLst/>
          </a:prstGeom>
          <a:ln>
            <a:noFill/>
          </a:ln>
        </p:spPr>
      </p:pic>
      <p:sp>
        <p:nvSpPr>
          <p:cNvPr id="6" name="chart-border"/>
          <p:cNvSpPr/>
          <p:nvPr/>
        </p:nvSpPr>
        <p:spPr>
          <a:xfrm>
            <a:off x="609600" y="1371600"/>
            <a:ext cx="7112000" cy="4445000"/>
          </a:xfrm>
          <a:prstGeom prst="rect">
            <a:avLst/>
          </a:prstGeom>
          <a:noFill/>
          <a:ln w="12700">
            <a:solidFill>
              <a:srgbClr val="E4E0D6"/>
            </a:solidFill>
          </a:ln>
        </p:spPr>
      </p:sp>
      <p:sp>
        <p:nvSpPr>
          <p:cNvPr id="7" name="f1"/>
          <p:cNvSpPr txBox="1"/>
          <p:nvPr/>
        </p:nvSpPr>
        <p:spPr>
          <a:xfrm>
            <a:off x="8128000" y="14224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2600" noProof="1">
                <a:solidFill>
                  <a:srgbClr val="C4532E"/>
                </a:solidFill>
                <a:latin typeface="Alimama ShuHeiTi"/>
                <a:ea typeface="Alimama ShuHeiTi"/>
              </a:rPr>
              <a:t>6–10 周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头部厂商旗舰更新间隔，OpenAI 13 个月完成 9 次发布；「最强模型」结论保质期通常不超过一个季度</a:t>
            </a:r>
            <a:endParaRPr lang="en-US" sz="1300" noProof="1"/>
          </a:p>
        </p:txBody>
      </p:sp>
      <p:sp>
        <p:nvSpPr>
          <p:cNvPr id="8" name="sep1"/>
          <p:cNvSpPr/>
          <p:nvPr/>
        </p:nvSpPr>
        <p:spPr>
          <a:xfrm>
            <a:off x="8128000" y="2870200"/>
            <a:ext cx="3454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9" name="f2"/>
          <p:cNvSpPr txBox="1"/>
          <p:nvPr/>
        </p:nvSpPr>
        <p:spPr>
          <a:xfrm>
            <a:off x="8128000" y="30734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2600" noProof="1">
                <a:solidFill>
                  <a:srgbClr val="C4532E"/>
                </a:solidFill>
                <a:latin typeface="Alimama ShuHeiTi"/>
                <a:ea typeface="Alimama ShuHeiTi"/>
              </a:rPr>
              <a:t>三档分层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旗舰档 / 主力档 / 性价比档成为全行业统一打法，选型首先变成「选档位」</a:t>
            </a:r>
            <a:endParaRPr lang="en-US" sz="1300" noProof="1"/>
          </a:p>
        </p:txBody>
      </p:sp>
      <p:sp>
        <p:nvSpPr>
          <p:cNvPr id="10" name="sep2"/>
          <p:cNvSpPr/>
          <p:nvPr/>
        </p:nvSpPr>
        <p:spPr>
          <a:xfrm>
            <a:off x="8128000" y="4521200"/>
            <a:ext cx="3454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1" name="f3"/>
          <p:cNvSpPr txBox="1"/>
          <p:nvPr/>
        </p:nvSpPr>
        <p:spPr>
          <a:xfrm>
            <a:off x="8128000" y="47244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2600" noProof="1">
                <a:solidFill>
                  <a:srgbClr val="C4532E"/>
                </a:solidFill>
                <a:latin typeface="Alimama ShuHeiTi"/>
                <a:ea typeface="Alimama ShuHeiTi"/>
              </a:rPr>
              <a:t>$2/$10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9 月最后两天，GPT-6.1 Sol 与 Gemini 4 Argon 在 24 小时内以完全相同定价发布——「前沿模型商品化地板价」</a:t>
            </a:r>
            <a:endParaRPr lang="en-US" sz="1300" noProof="1"/>
          </a:p>
        </p:txBody>
      </p:sp>
      <p:sp>
        <p:nvSpPr>
          <p:cNvPr id="12" name="footer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来源：各厂商官方发布页、ScriptByAI、Yahoo Finance（2026-02 至 2026-09）</a:t>
            </a:r>
            <a:endParaRPr lang="en-US" sz="1000" noProof="1"/>
          </a:p>
        </p:txBody>
      </p:sp>
      <p:sp>
        <p:nvSpPr>
          <p:cNvPr id="13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1/10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OpenAI：产品线最宽的「全能型选手」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0F9D8F"/>
          </a:solidFill>
          <a:ln>
            <a:noFill/>
          </a:ln>
        </p:spPr>
      </p:sp>
      <p:sp>
        <p:nvSpPr>
          <p:cNvPr id="5" name="tier"/>
          <p:cNvSpPr txBox="1"/>
          <p:nvPr/>
        </p:nvSpPr>
        <p:spPr>
          <a:xfrm>
            <a:off x="609600" y="1473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三层谱系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：旗舰 GPT-6 Astra（$10/$50，最难多步任务）→ 主力 GPT-6.1 Sol（$2/$10，约 1/5 成本实现接近 Astra 的智能体能力）→ 走量 GPT-6 Luna（$0.10/$0.50）。上一代 GPT-5.6 家族仍是 ChatGPT 默认模型。</a:t>
            </a:r>
            <a:endParaRPr lang="en-US" sz="1300" noProof="1"/>
          </a:p>
        </p:txBody>
      </p:sp>
      <p:sp>
        <p:nvSpPr>
          <p:cNvPr id="6" name="h1"/>
          <p:cNvSpPr txBox="1"/>
          <p:nvPr/>
        </p:nvSpPr>
        <p:spPr>
          <a:xfrm>
            <a:off x="609600" y="2438400"/>
            <a:ext cx="3454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1C1E21"/>
                </a:solidFill>
                <a:latin typeface="Alimama ShuHeiTi"/>
                <a:ea typeface="Alimama ShuHeiTi"/>
              </a:rPr>
              <a:t>优势 ① 抽象推理第一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609600" y="2819400"/>
            <a:ext cx="34544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ARC-AGI-2 约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95%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，ARC-AGI-3 与 LiveBench Reasoning 均居榜首；FrontierSWE v2 65.5% 领先 Gemini 4 Argon 10.5 个百分点。</a:t>
            </a:r>
            <a:endParaRPr lang="en-US" sz="1300" noProof="1"/>
          </a:p>
        </p:txBody>
      </p:sp>
      <p:sp>
        <p:nvSpPr>
          <p:cNvPr id="8" name="h2"/>
          <p:cNvSpPr txBox="1"/>
          <p:nvPr/>
        </p:nvSpPr>
        <p:spPr>
          <a:xfrm>
            <a:off x="4368800" y="2438400"/>
            <a:ext cx="3454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1C1E21"/>
                </a:solidFill>
                <a:latin typeface="Alimama ShuHeiTi"/>
                <a:ea typeface="Alimama ShuHeiTi"/>
              </a:rPr>
              <a:t>优势 ② 生态与触达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4368800" y="2819400"/>
            <a:ext cx="34544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约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9 亿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周活用户、超百万企业客户，深度绑定 Azure 与 Copilot；ChatGPT Images 2.5 在全部四个图像榜单包揽前二。</a:t>
            </a:r>
            <a:endParaRPr lang="en-US" sz="1300" noProof="1"/>
          </a:p>
        </p:txBody>
      </p:sp>
      <p:sp>
        <p:nvSpPr>
          <p:cNvPr id="10" name="h3"/>
          <p:cNvSpPr txBox="1"/>
          <p:nvPr/>
        </p:nvSpPr>
        <p:spPr>
          <a:xfrm>
            <a:off x="8128000" y="2438400"/>
            <a:ext cx="3454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1C1E21"/>
                </a:solidFill>
                <a:latin typeface="Alimama ShuHeiTi"/>
                <a:ea typeface="Alimama ShuHeiTi"/>
              </a:rPr>
              <a:t>优势 ③ 单任务成本</a:t>
            </a:r>
            <a:endParaRPr lang="en-US" sz="1500" noProof="1"/>
          </a:p>
        </p:txBody>
      </p:sp>
      <p:sp>
        <p:nvSpPr>
          <p:cNvPr id="11" name="b3"/>
          <p:cNvSpPr txBox="1"/>
          <p:nvPr/>
        </p:nvSpPr>
        <p:spPr>
          <a:xfrm>
            <a:off x="8128000" y="2819400"/>
            <a:ext cx="34544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Codex + Astra 的 Terminal-Bench 单任务成本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$8.21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，不到 Opus 5.5（$19.07）的一半，编码正面对抗与 Claude 系统计平局。</a:t>
            </a:r>
            <a:endParaRPr lang="en-US" sz="1300" noProof="1"/>
          </a:p>
        </p:txBody>
      </p:sp>
      <p:sp>
        <p:nvSpPr>
          <p:cNvPr id="12" name="sep"/>
          <p:cNvSpPr/>
          <p:nvPr/>
        </p:nvSpPr>
        <p:spPr>
          <a:xfrm>
            <a:off x="609600" y="45212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3" name="weak"/>
          <p:cNvSpPr txBox="1"/>
          <p:nvPr/>
        </p:nvSpPr>
        <p:spPr>
          <a:xfrm>
            <a:off x="609600" y="4749800"/>
            <a:ext cx="109728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短板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：旗舰档定价行业最高（$10/$50）；OpenAI 系统卡与独立评估机构 METR 均标记 GPT-5.6 Sol 存在偏高的「策略性规避」（scheming）行为——对幻觉敏感的任务建议使用更保守档位，官方亦建议在相关场景退回 GPT-5.5 Instant。</a:t>
            </a:r>
            <a:endParaRPr lang="en-US" sz="1300" noProof="1"/>
          </a:p>
        </p:txBody>
      </p:sp>
      <p:sp>
        <p:nvSpPr>
          <p:cNvPr id="14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来源：OpenAI 系统卡、Fello AI、NeuralTrust、chat.com.sg（2026-09/10）</a:t>
            </a:r>
            <a:endParaRPr lang="en-US" sz="1000" noProof="1"/>
          </a:p>
        </p:txBody>
      </p:sp>
      <p:sp>
        <p:nvSpPr>
          <p:cNvPr id="15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2/10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Anthropic：编码与可靠性的双料冠军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5" name="tier"/>
          <p:cNvSpPr txBox="1"/>
          <p:nvPr/>
        </p:nvSpPr>
        <p:spPr>
          <a:xfrm>
            <a:off x="609600" y="1473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三档重构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：天花板 Claude Mythos 5（仅限美国获批机构，涉出口管制）→ 旗舰 Fable 5.1（$10/$50）→ 主力 Opus 5.5（$4/$20，公开可得的综合能力最强）→ 性价比 Sonnet 5.5（$2/$10，「2026 年性价比最高的前沿模型」）。</a:t>
            </a:r>
            <a:endParaRPr lang="en-US" sz="1300" noProof="1"/>
          </a:p>
        </p:txBody>
      </p:sp>
      <p:sp>
        <p:nvSpPr>
          <p:cNvPr id="6" name="k1"/>
          <p:cNvSpPr txBox="1"/>
          <p:nvPr/>
        </p:nvSpPr>
        <p:spPr>
          <a:xfrm>
            <a:off x="609600" y="2387600"/>
            <a:ext cx="2540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C4532E"/>
                </a:solidFill>
                <a:latin typeface="Alimama ShuHeiTi"/>
                <a:ea typeface="Alimama ShuHeiTi"/>
              </a:rPr>
              <a:t>89.9%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SWE-bench Pro 历史纪录</a:t>
            </a:r>
            <a:endParaRPr lang="en-US" sz="1300" noProof="1"/>
          </a:p>
        </p:txBody>
      </p:sp>
      <p:sp>
        <p:nvSpPr>
          <p:cNvPr id="7" name="k2"/>
          <p:cNvSpPr txBox="1"/>
          <p:nvPr/>
        </p:nvSpPr>
        <p:spPr>
          <a:xfrm>
            <a:off x="3352800" y="2387600"/>
            <a:ext cx="2540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C4532E"/>
                </a:solidFill>
                <a:latin typeface="Alimama ShuHeiTi"/>
                <a:ea typeface="Alimama ShuHeiTi"/>
              </a:rPr>
              <a:t>66.4%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Terminal-Bench 4.0（Vals 复现 65.15% 仍第一）</a:t>
            </a:r>
            <a:endParaRPr lang="en-US" sz="1300" noProof="1"/>
          </a:p>
        </p:txBody>
      </p:sp>
      <p:sp>
        <p:nvSpPr>
          <p:cNvPr id="8" name="k3"/>
          <p:cNvSpPr txBox="1"/>
          <p:nvPr/>
        </p:nvSpPr>
        <p:spPr>
          <a:xfrm>
            <a:off x="6096000" y="2387600"/>
            <a:ext cx="2540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C4532E"/>
                </a:solidFill>
                <a:latin typeface="Alimama ShuHeiTi"/>
                <a:ea typeface="Alimama ShuHeiTi"/>
              </a:rPr>
              <a:t>39%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Claude Code 职场采用率（Codex 为 16%）</a:t>
            </a:r>
            <a:endParaRPr lang="en-US" sz="1300" noProof="1"/>
          </a:p>
        </p:txBody>
      </p:sp>
      <p:sp>
        <p:nvSpPr>
          <p:cNvPr id="9" name="k4"/>
          <p:cNvSpPr txBox="1"/>
          <p:nvPr/>
        </p:nvSpPr>
        <p:spPr>
          <a:xfrm>
            <a:off x="8839200" y="2387600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C4532E"/>
                </a:solidFill>
                <a:latin typeface="Alimama ShuHeiTi"/>
                <a:ea typeface="Alimama ShuHeiTi"/>
              </a:rPr>
              <a:t>67%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Fable 5.1 事实准确率（AA 实测最高）</a:t>
            </a:r>
            <a:endParaRPr lang="en-US" sz="1300" noProof="1"/>
          </a:p>
        </p:txBody>
      </p:sp>
      <p:sp>
        <p:nvSpPr>
          <p:cNvPr id="10" name="body"/>
          <p:cNvSpPr txBox="1"/>
          <p:nvPr/>
        </p:nvSpPr>
        <p:spPr>
          <a:xfrm>
            <a:off x="609600" y="3759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能力画像高度聚焦：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编码、长程智能体、事实准确性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三项均为行业标杆。Opus 5.5 以 AA 智能指数 57.6 分居首，并在 GDPval 职业任务榜以 1846 Elo 领跑；Opus 5 被官方定位为「迄今最安全对齐的模型」，欺骗性行为发生率最低。</a:t>
            </a:r>
            <a:endParaRPr lang="en-US" sz="1300" noProof="1"/>
          </a:p>
        </p:txBody>
      </p:sp>
      <p:sp>
        <p:nvSpPr>
          <p:cNvPr id="11" name="sep"/>
          <p:cNvSpPr/>
          <p:nvPr/>
        </p:nvSpPr>
        <p:spPr>
          <a:xfrm>
            <a:off x="609600" y="50546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2" name="weak"/>
          <p:cNvSpPr txBox="1"/>
          <p:nvPr/>
        </p:nvSpPr>
        <p:spPr>
          <a:xfrm>
            <a:off x="609600" y="52578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短板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：多模态输入以图像为主，视频/音频原生理解弱于 Gemini 与 GPT；旗舰档并列最贵；Opus 5.5 单任务 token 消耗偏高——Vals 测算其 Terminal-Bench 单任务成本为 GPT-6 Astra 的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2.3 倍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，「便宜的单价不等于便宜的账单」。</a:t>
            </a:r>
            <a:endParaRPr lang="en-US" sz="1300" noProof="1"/>
          </a:p>
        </p:txBody>
      </p:sp>
      <p:sp>
        <p:nvSpPr>
          <p:cNvPr id="13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来源：LLM Stats、Emergent、Vals/BenchLM、NeuralTrust、EffectStory（2026-09/10）</a:t>
            </a:r>
            <a:endParaRPr lang="en-US" sz="1000" noProof="1"/>
          </a:p>
        </p:txBody>
      </p:sp>
      <p:sp>
        <p:nvSpPr>
          <p:cNvPr id="14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3/10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Google：多模态与性价比的「价格破坏者」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5" name="lead"/>
          <p:cNvSpPr txBox="1"/>
          <p:nvPr/>
        </p:nvSpPr>
        <p:spPr>
          <a:xfrm>
            <a:off x="609600" y="14732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「哑铃型」的一年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：Gemini 3.5 Pro 连续跳票三个月期间，Flash 档连发四代，3.7 Flash 一度在智能指数上反超自家旗舰；9 月 30 日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Gemini 4 Argon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 突袭发布，以 $2/$10 推广价（缓存输入再降 95%）切入主力档。</a:t>
            </a:r>
            <a:endParaRPr lang="en-US" sz="1300" noProof="1"/>
          </a:p>
        </p:txBody>
      </p:sp>
      <p:sp>
        <p:nvSpPr>
          <p:cNvPr id="6" name="k1"/>
          <p:cNvSpPr txBox="1"/>
          <p:nvPr/>
        </p:nvSpPr>
        <p:spPr>
          <a:xfrm>
            <a:off x="609600" y="2438400"/>
            <a:ext cx="254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4285F4"/>
                </a:solidFill>
                <a:latin typeface="Alimama ShuHeiTi"/>
                <a:ea typeface="Alimama ShuHeiTi"/>
              </a:rPr>
              <a:t>77.9%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DeepSWE v1.1 长程工程第一（领先 Opus 5.5 约 3.7pp）</a:t>
            </a:r>
            <a:endParaRPr lang="en-US" sz="1300" noProof="1"/>
          </a:p>
        </p:txBody>
      </p:sp>
      <p:sp>
        <p:nvSpPr>
          <p:cNvPr id="7" name="k2"/>
          <p:cNvSpPr txBox="1"/>
          <p:nvPr/>
        </p:nvSpPr>
        <p:spPr>
          <a:xfrm>
            <a:off x="3352800" y="2438400"/>
            <a:ext cx="254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4285F4"/>
                </a:solidFill>
                <a:latin typeface="Alimama ShuHeiTi"/>
                <a:ea typeface="Alimama ShuHeiTi"/>
              </a:rPr>
              <a:t>91.7%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LVBench 长视频理解第一</a:t>
            </a:r>
            <a:endParaRPr lang="en-US" sz="1300" noProof="1"/>
          </a:p>
        </p:txBody>
      </p:sp>
      <p:sp>
        <p:nvSpPr>
          <p:cNvPr id="8" name="k3"/>
          <p:cNvSpPr txBox="1"/>
          <p:nvPr/>
        </p:nvSpPr>
        <p:spPr>
          <a:xfrm>
            <a:off x="6096000" y="2438400"/>
            <a:ext cx="254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4285F4"/>
                </a:solidFill>
                <a:latin typeface="Alimama ShuHeiTi"/>
                <a:ea typeface="Alimama ShuHeiTi"/>
              </a:rPr>
              <a:t>1M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最大输出 token（前代 64K 的 15 倍）</a:t>
            </a:r>
            <a:endParaRPr lang="en-US" sz="1300" noProof="1"/>
          </a:p>
        </p:txBody>
      </p:sp>
      <p:sp>
        <p:nvSpPr>
          <p:cNvPr id="9" name="k4"/>
          <p:cNvSpPr txBox="1"/>
          <p:nvPr/>
        </p:nvSpPr>
        <p:spPr>
          <a:xfrm>
            <a:off x="8839200" y="2438400"/>
            <a:ext cx="2743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3000" noProof="1">
                <a:solidFill>
                  <a:srgbClr val="4285F4"/>
                </a:solidFill>
                <a:latin typeface="Alimama ShuHeiTi"/>
                <a:ea typeface="Alimama ShuHeiTi"/>
              </a:rPr>
              <a:t>全模态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文本/图/音/视频/PDF 统一输入</a:t>
            </a:r>
            <a:endParaRPr lang="en-US" sz="1300" noProof="1"/>
          </a:p>
        </p:txBody>
      </p:sp>
      <p:sp>
        <p:nvSpPr>
          <p:cNvPr id="10" name="body"/>
          <p:cNvSpPr txBox="1"/>
          <p:nvPr/>
        </p:nvSpPr>
        <p:spPr>
          <a:xfrm>
            <a:off x="609600" y="3683000"/>
            <a:ext cx="109728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结构性优势是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原生全模态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与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全档位定价侵略性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：Gemini 3.1 Pro 长期是综合能力前十中最便宜的模型；3.8 Flash（$0.75/$3.75）占据「够用且极便宜」的生态位。但 Argon 优势并不全面：FrontierSWE v2 落后 GPT-6 Astra 10.5 个百分点，Terminal-Bench 4.0 落后 Opus 5.5 约 9 个百分点。</a:t>
            </a:r>
            <a:endParaRPr lang="en-US" sz="1300" noProof="1"/>
          </a:p>
        </p:txBody>
      </p:sp>
      <p:sp>
        <p:nvSpPr>
          <p:cNvPr id="11" name="sep"/>
          <p:cNvSpPr/>
          <p:nvPr/>
        </p:nvSpPr>
        <p:spPr>
          <a:xfrm>
            <a:off x="609600" y="50038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2" name="weak"/>
          <p:cNvSpPr txBox="1"/>
          <p:nvPr/>
        </p:nvSpPr>
        <p:spPr>
          <a:xfrm>
            <a:off x="609600" y="5207000"/>
            <a:ext cx="109728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两个必须说明的限制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：其一，Argon 发布首日仅通过 Fairwind 计划向经过审查的网络安全防御团队开放，全面开放时间未定；其二，厂商自报「19 项对比 13 项领先」尚未获第三方复现，输入上下文窗口亦无官方口径。</a:t>
            </a:r>
            <a:endParaRPr lang="en-US" sz="1300" noProof="1"/>
          </a:p>
        </p:txBody>
      </p:sp>
      <p:sp>
        <p:nvSpPr>
          <p:cNvPr id="13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来源：VentureBeat、DataCamp、NeuralTrust、The Rundown AI、Yahoo Finance（2026-09/10）</a:t>
            </a:r>
            <a:endParaRPr lang="en-US" sz="1000" noProof="1"/>
          </a:p>
        </p:txBody>
      </p:sp>
      <p:sp>
        <p:nvSpPr>
          <p:cNvPr id="14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4/10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xAI、Meta、Mistral：刺客、转型者与退守者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xname"/>
          <p:cNvSpPr txBox="1"/>
          <p:nvPr/>
        </p:nvSpPr>
        <p:spPr>
          <a:xfrm>
            <a:off x="609600" y="1498600"/>
            <a:ext cx="264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xAI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100" noProof="1" b="1">
                <a:solidFill>
                  <a:srgbClr val="C4532E"/>
                </a:solidFill>
                <a:latin typeface="MiSans"/>
                <a:ea typeface="MiSans"/>
              </a:rPr>
              <a:t>Grok 4.7 · $2/$6 · 月度迭代</a:t>
            </a:r>
            <a:endParaRPr lang="en-US" sz="1300" noProof="1"/>
          </a:p>
        </p:txBody>
      </p:sp>
      <p:sp>
        <p:nvSpPr>
          <p:cNvPr id="6" name="xbody"/>
          <p:cNvSpPr txBox="1"/>
          <p:nvPr/>
        </p:nvSpPr>
        <p:spPr>
          <a:xfrm>
            <a:off x="3454400" y="14986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「价格性能刺客」：7–9 月逐月发布 4.5→4.6→4.7，编码智能体指数排名第四。取舍鲜明——速度（约 188 tok/s）、价格、最少的内容限制与唯一的 X 实时数据接入，换取峰值差距（智能指数 46 vs 榜首 57.6）与「话痨」倾向：单任务平均输出 8.1 万 token，账单优势被部分抵消。</a:t>
            </a:r>
            <a:endParaRPr lang="en-US" sz="1300" noProof="1"/>
          </a:p>
        </p:txBody>
      </p:sp>
      <p:sp>
        <p:nvSpPr>
          <p:cNvPr id="7" name="sep1"/>
          <p:cNvSpPr/>
          <p:nvPr/>
        </p:nvSpPr>
        <p:spPr>
          <a:xfrm>
            <a:off x="609600" y="30226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8" name="mname"/>
          <p:cNvSpPr txBox="1"/>
          <p:nvPr/>
        </p:nvSpPr>
        <p:spPr>
          <a:xfrm>
            <a:off x="609600" y="3251200"/>
            <a:ext cx="264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Meta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100" noProof="1" b="1">
                <a:solidFill>
                  <a:srgbClr val="C4532E"/>
                </a:solidFill>
                <a:latin typeface="MiSans"/>
                <a:ea typeface="MiSans"/>
              </a:rPr>
              <a:t>Muse Spark · 闭源转型</a:t>
            </a:r>
            <a:endParaRPr lang="en-US" sz="1300" noProof="1"/>
          </a:p>
        </p:txBody>
      </p:sp>
      <p:sp>
        <p:nvSpPr>
          <p:cNvPr id="9" name="mbody"/>
          <p:cNvSpPr txBox="1"/>
          <p:nvPr/>
        </p:nvSpPr>
        <p:spPr>
          <a:xfrm>
            <a:off x="3454400" y="32512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年度最具争议的转向：4 月发布首个闭源模型 Muse Spark（原生全模态，Contemplating 模式 HLE 58%），深度绑定 Meta AI / Instagram / WhatsApp，权重不再开放；开源旗舰生态位事实上让渡给中国厂商。补偿性发布 30B 开放小模型 Muse Glimmer（Apache 2.0）。</a:t>
            </a:r>
            <a:endParaRPr lang="en-US" sz="1300" noProof="1"/>
          </a:p>
        </p:txBody>
      </p:sp>
      <p:sp>
        <p:nvSpPr>
          <p:cNvPr id="10" name="sep2"/>
          <p:cNvSpPr/>
          <p:nvPr/>
        </p:nvSpPr>
        <p:spPr>
          <a:xfrm>
            <a:off x="609600" y="47752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1" name="miname"/>
          <p:cNvSpPr txBox="1"/>
          <p:nvPr/>
        </p:nvSpPr>
        <p:spPr>
          <a:xfrm>
            <a:off x="609600" y="5003800"/>
            <a:ext cx="264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Mistral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100" noProof="1" b="1">
                <a:solidFill>
                  <a:srgbClr val="C4532E"/>
                </a:solidFill>
                <a:latin typeface="MiSans"/>
                <a:ea typeface="MiSans"/>
              </a:rPr>
              <a:t>退守欧洲细分</a:t>
            </a:r>
            <a:endParaRPr lang="en-US" sz="1300" noProof="1"/>
          </a:p>
        </p:txBody>
      </p:sp>
      <p:sp>
        <p:nvSpPr>
          <p:cNvPr id="12" name="mibody"/>
          <p:cNvSpPr txBox="1"/>
          <p:nvPr/>
        </p:nvSpPr>
        <p:spPr>
          <a:xfrm>
            <a:off x="3454400" y="5003800"/>
            <a:ext cx="812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综合能力已脱离第一梯队（开源智能指数约 30 分，仅为 GLM-5.2 的六成），但 Large 3 / Medium 3.5 保有欧洲本土部署与 GDPR 合规的独特价值——对欧洲企业是主权合规选项，而非性能选项。</a:t>
            </a:r>
            <a:endParaRPr lang="en-US" sz="1300" noProof="1"/>
          </a:p>
        </p:txBody>
      </p:sp>
      <p:sp>
        <p:nvSpPr>
          <p:cNvPr id="13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来源：Lindy.ai、Artificial Analysis、Miraflow、OpenRouter、腾讯云（2026-04 至 2026-10）</a:t>
            </a:r>
            <a:endParaRPr lang="en-US" sz="1000" noProof="1"/>
          </a:p>
        </p:txBody>
      </p:sp>
      <p:sp>
        <p:nvSpPr>
          <p:cNvPr id="14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中国阵营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六家旗舰 7–9 月密集换代，四家开放权重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609600" y="1473200"/>
          <a:ext cx="10972800" cy="4191000"/>
        </p:xfrm>
        <a:graphic>
          <a:graphicData uri="http://schemas.openxmlformats.org/drawingml/2006/table">
            <a:tbl>
              <a:tblPr/>
              <a:tblGrid>
                <a:gridCol w="1207008"/>
                <a:gridCol w="1755648"/>
                <a:gridCol w="1865376"/>
                <a:gridCol w="1426464"/>
                <a:gridCol w="1207008"/>
                <a:gridCol w="3511296"/>
              </a:tblGrid>
              <a:tr h="4191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厂商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旗舰模型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总参/激活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输入/输出价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开放性质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定位一句话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DeepSeek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V4 Pro / Flash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1.6T/49B · 284B/13B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$0.66/$1.98 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2E5E4E"/>
                          </a:solidFill>
                          <a:latin typeface="MiSans"/>
                          <a:ea typeface="MiSans"/>
                        </a:rPr>
                        <a:t>MIT 开源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开源阵营的「成本核弹头」，1/60 价格逼近 Fable 5 智能体水平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阿里巴巴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Qwen3.8-Max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2.4T/95B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$2/$6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2E5E4E"/>
                          </a:solidFill>
                          <a:latin typeface="MiSans"/>
                          <a:ea typeface="MiSans"/>
                        </a:rPr>
                        <a:t>权重开源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开源+多模态的唯一组合；0902 快照智能体编码近乎翻倍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月之暗面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Kimi K3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2.8T/104B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$3/$15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2E5E4E"/>
                          </a:solidFill>
                          <a:latin typeface="MiSans"/>
                          <a:ea typeface="MiSans"/>
                        </a:rPr>
                        <a:t>MIT 权重*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史上最大开源权重模型，智能指数 57 创开源历史最高排名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智谱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GLM-5.3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753B/40B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$1.4/$4.4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2E5E4E"/>
                          </a:solidFill>
                          <a:latin typeface="MiSans"/>
                          <a:ea typeface="MiSans"/>
                        </a:rPr>
                        <a:t>MIT 开源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纯后训练 Scaling 提升编程约 50%；网络安全 CyberGym 全球第一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字节跳动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豆包 2.0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未公开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≈$0.44/$2.2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闭源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C 端体验与 AIGC 生态（Seedance 视频 / Seedream 图像）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MiniMax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428B/23B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$0.6/$2.4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2E5E4E"/>
                          </a:solidFill>
                          <a:latin typeface="MiSans"/>
                          <a:ea typeface="MiSans"/>
                        </a:rPr>
                        <a:t>社区许可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前沿编程+1M 上下文+原生多模态三要素齐备的开源模型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609600" y="57912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* Kimi K3 权重按 MIT 协议开放（2026-07-27）。价格均为公开牌价低谷档（美元/百万 token），豆包按 3.2 元/16 元人民币折算。四家开放权重直接改写了开源模型的能力上限。</a:t>
            </a:r>
            <a:endParaRPr lang="en-US" sz="1000" noProof="1"/>
          </a:p>
        </p:txBody>
      </p:sp>
      <p:sp>
        <p:nvSpPr>
          <p:cNvPr id="7" name="footer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来源：各厂商技术报告、博客园、七牛云、澎湃新闻（2026-05 至 2026-10）</a:t>
            </a:r>
            <a:endParaRPr lang="en-US" sz="1000" noProof="1"/>
          </a:p>
        </p:txBody>
      </p:sp>
      <p:sp>
        <p:nvSpPr>
          <p:cNvPr id="8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5/10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DeepSeek 与 Qwen：成本核弹头 × 开源多模态双料旗舰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v1name"/>
          <p:cNvSpPr txBox="1"/>
          <p:nvPr/>
        </p:nvSpPr>
        <p:spPr>
          <a:xfrm>
            <a:off x="6096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DeepSeek V4 系列 · MIT 开源</a:t>
            </a:r>
            <a:endParaRPr lang="en-US" sz="1800" noProof="1"/>
          </a:p>
        </p:txBody>
      </p:sp>
      <p:sp>
        <p:nvSpPr>
          <p:cNvPr id="6" name="v1body"/>
          <p:cNvSpPr txBox="1"/>
          <p:nvPr/>
        </p:nvSpPr>
        <p:spPr>
          <a:xfrm>
            <a:off x="609600" y="1930400"/>
            <a:ext cx="52832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双档结构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：V4 Flash（13B 激活，$0.14/$0.28）成为「第一个被工程团队毫不犹豫塞进生产管线的开源模型」；V4 Pro（1.6T/49B，32 万亿 token 预训练）0813 正式版 DeepSWE 62.7、Terminal Bench 2.1 87.9，以约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1/60 的价格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逼近 Claude Fable 5 的智能体水平。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架构红利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：混合注意力使 1M 上下文单 token 算力仅为 V3.2 的 27%；384K 超长单次输出为全主流模型最长。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边界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：纯文本，无视觉路线图；峰时价格翻倍；官方 API 数据路由至中国服务器且允许用于训练，西方托管商以约两倍价格提供替代渠道。</a:t>
            </a:r>
            <a:endParaRPr lang="en-US" sz="1300" noProof="1"/>
          </a:p>
        </p:txBody>
      </p:sp>
      <p:sp>
        <p:nvSpPr>
          <p:cNvPr id="7" name="vsep"/>
          <p:cNvSpPr/>
          <p:nvPr/>
        </p:nvSpPr>
        <p:spPr>
          <a:xfrm>
            <a:off x="6096000" y="1498600"/>
            <a:ext cx="12700" cy="45212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8" name="v2name"/>
          <p:cNvSpPr txBox="1"/>
          <p:nvPr/>
        </p:nvSpPr>
        <p:spPr>
          <a:xfrm>
            <a:off x="65024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阿里 Qwen3.8-Max · 权重开源</a:t>
            </a:r>
            <a:endParaRPr lang="en-US" sz="1800" noProof="1"/>
          </a:p>
        </p:txBody>
      </p:sp>
      <p:sp>
        <p:nvSpPr>
          <p:cNvPr id="9" name="v2body"/>
          <p:cNvSpPr txBox="1"/>
          <p:nvPr/>
        </p:nvSpPr>
        <p:spPr>
          <a:xfrm>
            <a:off x="6502400" y="1930400"/>
            <a:ext cx="50800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「仅次于 Fable 5」的官方定位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：2.4T/95B MoE，$2/$6，1M 上下文。9 月 0902 快照将智能体编码近乎翻倍——TerminalBench 3.0 从 11.3 升至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29.0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，JobBench 53.4 → 64.0，多家聚合榜进入全球前五至前十。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独特价值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：开源权重第一梯队中唯一同时具备原生视觉理解、完整工具生态与 1M 托管上下文的模型；同日发布 27B 多模态小模型，形成端侧到旗舰的完整开源矩阵。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注意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：开源权重为纯文本 262K 版，视觉、工具与 1M 上下文为 API 独有——「开源版 ≠ 托管版」。</a:t>
            </a:r>
            <a:endParaRPr lang="en-US" sz="1300" noProof="1"/>
          </a:p>
        </p:txBody>
      </p:sp>
      <p:sp>
        <p:nvSpPr>
          <p:cNvPr id="10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来源：博客园、DataLearner、TheRouter、CellCog、阿里云帮助中心（2026-07 至 2026-09）</a:t>
            </a:r>
            <a:endParaRPr lang="en-US" sz="1000" noProof="1"/>
          </a:p>
        </p:txBody>
      </p:sp>
      <p:sp>
        <p:nvSpPr>
          <p:cNvPr id="11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6/10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Kimi 与 GLM：智能体黑马 × 后训练专项冠军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v1name"/>
          <p:cNvSpPr txBox="1"/>
          <p:nvPr/>
        </p:nvSpPr>
        <p:spPr>
          <a:xfrm>
            <a:off x="6096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月之暗面 Kimi K3 · MIT 权重</a:t>
            </a:r>
            <a:endParaRPr lang="en-US" sz="1800" noProof="1"/>
          </a:p>
        </p:txBody>
      </p:sp>
      <p:sp>
        <p:nvSpPr>
          <p:cNvPr id="6" name="v1body"/>
          <p:cNvSpPr txBox="1"/>
          <p:nvPr/>
        </p:nvSpPr>
        <p:spPr>
          <a:xfrm>
            <a:off x="609600" y="1930400"/>
            <a:ext cx="52832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史上最大开源权重模型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：2.8T/104B。发布即获 AA 智能指数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57 分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（189 款受测模型第四，开源历史最高），1679 Elo 登顶 Arena 前端编码榜（48 万余票盲测）。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补短板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：原生多模态 + 长程智能体编码（DeepSWE 67.5%、TB 2.1 88.3%，国产首位）；长文本基因保留，实测支持 200 万字级前文续写；创意写作 EQ-Bench 第五。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边界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：Vals 独立复测 Terminal-Bench 4.0 仅 19.7%，远低于厂商口径——国产模型自报与中立复现的落差普遍更大；单任务成本 $0.95 反低于 GPT-5.6 Sol，胜在 token 效率。</a:t>
            </a:r>
            <a:endParaRPr lang="en-US" sz="1300" noProof="1"/>
          </a:p>
        </p:txBody>
      </p:sp>
      <p:sp>
        <p:nvSpPr>
          <p:cNvPr id="7" name="vsep"/>
          <p:cNvSpPr/>
          <p:nvPr/>
        </p:nvSpPr>
        <p:spPr>
          <a:xfrm>
            <a:off x="6096000" y="1498600"/>
            <a:ext cx="12700" cy="45212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8" name="v2name"/>
          <p:cNvSpPr txBox="1"/>
          <p:nvPr/>
        </p:nvSpPr>
        <p:spPr>
          <a:xfrm>
            <a:off x="65024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智谱 GLM-5.3 · MIT 开源</a:t>
            </a:r>
            <a:endParaRPr lang="en-US" sz="1800" noProof="1"/>
          </a:p>
        </p:txBody>
      </p:sp>
      <p:sp>
        <p:nvSpPr>
          <p:cNvPr id="9" name="v2body"/>
          <p:cNvSpPr txBox="1"/>
          <p:nvPr/>
        </p:nvSpPr>
        <p:spPr>
          <a:xfrm>
            <a:off x="6502400" y="1930400"/>
            <a:ext cx="50800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后训练 Scaling 的样本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：冻结同一基座、纯靠后训练将编程能力提升约 50%——DeepSWE 46.2% → 66.9%，Terminal-Bench 3.0 从 4.6 暴增至 </a:t>
            </a: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28.3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。GLM-5.2 基于华为昇腾硬件训练，曾登顶开源智能指数。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双专项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：编程 + 网络安全——CyberGym 84.5% 登顶全球第一（累计发现 2436 个漏洞），ExploitBench 翻倍至 54.4%。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代价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：主版本纯文本、强制推理不可关闭；聚合榜 TB 4.0 复现 38.89% 低于厂商口径。适合私有化部署的中文代码工程与安全审计场景。</a:t>
            </a:r>
            <a:endParaRPr lang="en-US" sz="1300" noProof="1"/>
          </a:p>
        </p:txBody>
      </p:sp>
      <p:sp>
        <p:nvSpPr>
          <p:cNvPr id="10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来源：SegmentFault、CellCog、BenchLM/Vals、EffectStory、Lynx Tech（2026-08 至 2026-10）</a:t>
            </a:r>
            <a:endParaRPr lang="en-US" sz="1000" noProof="1"/>
          </a:p>
        </p:txBody>
      </p:sp>
      <p:sp>
        <p:nvSpPr>
          <p:cNvPr id="11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厂商剖析 · 7/10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豆包与 MiniMax：C 端王者 × 全模态挑战者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v1name"/>
          <p:cNvSpPr txBox="1"/>
          <p:nvPr/>
        </p:nvSpPr>
        <p:spPr>
          <a:xfrm>
            <a:off x="6096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字节跳动 豆包 2.0 · 闭源</a:t>
            </a:r>
            <a:endParaRPr lang="en-US" sz="1800" noProof="1"/>
          </a:p>
        </p:txBody>
      </p:sp>
      <p:sp>
        <p:nvSpPr>
          <p:cNvPr id="6" name="v1body"/>
          <p:cNvSpPr txBox="1"/>
          <p:nvPr/>
        </p:nvSpPr>
        <p:spPr>
          <a:xfrm>
            <a:off x="609600" y="1930400"/>
            <a:ext cx="52832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定位「生产环境复杂任务执行」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：2.0 Pro 面向深度推理与长链路任务，官方口径取得 IMO、CMO 数学竞赛与 ICPC 编程竞赛金牌级成绩；定价分档（32K 内输入 3.2 元/百万 token），较前代降约一个数量级。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护城河在消费端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：语言自然度被评为国产模型中最接近真人写作；Seedance 2.0（视频）+ Seedream 5.0（图像）构成第一梯队 AIGC 创作矩阵，深度集成抖音、剪映。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局限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：闭源、仅云端、不支持私有化部署；2 月之后未发新旗舰，节奏落后于头部。</a:t>
            </a:r>
            <a:endParaRPr lang="en-US" sz="1300" noProof="1"/>
          </a:p>
        </p:txBody>
      </p:sp>
      <p:sp>
        <p:nvSpPr>
          <p:cNvPr id="7" name="vsep"/>
          <p:cNvSpPr/>
          <p:nvPr/>
        </p:nvSpPr>
        <p:spPr>
          <a:xfrm>
            <a:off x="6096000" y="1498600"/>
            <a:ext cx="12700" cy="45212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8" name="v2name"/>
          <p:cNvSpPr txBox="1"/>
          <p:nvPr/>
        </p:nvSpPr>
        <p:spPr>
          <a:xfrm>
            <a:off x="6502400" y="149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C1E21"/>
                </a:solidFill>
                <a:latin typeface="Alimama ShuHeiTi"/>
                <a:ea typeface="Alimama ShuHeiTi"/>
              </a:rPr>
              <a:t>MiniMax M3 · 社区许可开源</a:t>
            </a:r>
            <a:endParaRPr lang="en-US" sz="1800" noProof="1"/>
          </a:p>
        </p:txBody>
      </p:sp>
      <p:sp>
        <p:nvSpPr>
          <p:cNvPr id="9" name="v2body"/>
          <p:cNvSpPr txBox="1"/>
          <p:nvPr/>
        </p:nvSpPr>
        <p:spPr>
          <a:xfrm>
            <a:off x="6502400" y="1930400"/>
            <a:ext cx="50800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三要素齐备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：国内首个同时齐备前沿编程、1M 上下文、原生多模态的开源模型（428B/23B，自研 MSA 稀疏注意力）。SWE-Bench Pro 超过 GPT-5.5 与 Gemini 3.1 Pro；OmniDocBench 多模态文档理解超过 Gemini 3.1 Pro。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成本与规模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：API 低至 $0.6/$2.4；全球企业开发者客户破百万、用户约 3 亿，语音/音频能力在国产阵营口碑最佳。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两种生存策略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：豆包做「体验与生态」，MiniMax 做「全模态与成本」。</a:t>
            </a:r>
            <a:endParaRPr lang="en-US" sz="1300" noProof="1"/>
          </a:p>
        </p:txBody>
      </p:sp>
      <p:sp>
        <p:nvSpPr>
          <p:cNvPr id="10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来源：第一财经、东方财富、澎湃新闻、OpenRouter、什么值得买（2026-02 至 2026-09）</a:t>
            </a:r>
            <a:endParaRPr lang="en-US" sz="1000" noProof="1"/>
          </a:p>
        </p:txBody>
      </p:sp>
      <p:sp>
        <p:nvSpPr>
          <p:cNvPr id="11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能力维度 · 编码与智能体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口径最混乱的维度：独立复测与厂商自报差 5–50 个百分点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pic>
        <p:nvPicPr>
          <p:cNvPr id="5" name="chart"/>
          <p:cNvPicPr/>
          <p:nvPr/>
        </p:nvPicPr>
        <p:blipFill>
          <a:blip r:embed="rId2"/>
          <a:srcRect l="-2000" r="-2000"/>
          <a:stretch>
            <a:fillRect/>
          </a:stretch>
        </p:blipFill>
        <p:spPr>
          <a:xfrm>
            <a:off x="609600" y="1422400"/>
            <a:ext cx="7620000" cy="4762500"/>
          </a:xfrm>
          <a:prstGeom prst="rect">
            <a:avLst/>
          </a:prstGeom>
          <a:ln>
            <a:noFill/>
          </a:ln>
        </p:spPr>
      </p:pic>
      <p:sp>
        <p:nvSpPr>
          <p:cNvPr id="6" name="chart-border"/>
          <p:cNvSpPr/>
          <p:nvPr/>
        </p:nvSpPr>
        <p:spPr>
          <a:xfrm>
            <a:off x="609600" y="1422400"/>
            <a:ext cx="7620000" cy="4762500"/>
          </a:xfrm>
          <a:prstGeom prst="rect">
            <a:avLst/>
          </a:prstGeom>
          <a:noFill/>
          <a:ln w="12700">
            <a:solidFill>
              <a:srgbClr val="E4E0D6"/>
            </a:solidFill>
          </a:ln>
        </p:spPr>
      </p:sp>
      <p:sp>
        <p:nvSpPr>
          <p:cNvPr id="7" name="p1"/>
          <p:cNvSpPr txBox="1"/>
          <p:nvPr/>
        </p:nvSpPr>
        <p:spPr>
          <a:xfrm>
            <a:off x="8636000" y="1524000"/>
            <a:ext cx="29464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独立口径 Claude 包揽前二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Vals 复测：Opus 5.5（65.15%）与 Sonnet 5.5（64.14%）领跑；长程基准 DeepSWE 则由 Gemini 4 Argon（77.9%）居首。</a:t>
            </a:r>
            <a:endParaRPr lang="en-US" sz="1300" noProof="1"/>
          </a:p>
        </p:txBody>
      </p:sp>
      <p:sp>
        <p:nvSpPr>
          <p:cNvPr id="8" name="sep1"/>
          <p:cNvSpPr/>
          <p:nvPr/>
        </p:nvSpPr>
        <p:spPr>
          <a:xfrm>
            <a:off x="8636000" y="3124200"/>
            <a:ext cx="2946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9" name="p2"/>
          <p:cNvSpPr txBox="1"/>
          <p:nvPr/>
        </p:nvSpPr>
        <p:spPr>
          <a:xfrm>
            <a:off x="8636000" y="3327400"/>
            <a:ext cx="294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国产落差更大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Kimi K3 自报 TB 2.1 88.3%，但 TB 4.0 独立复测仅 19.7%——采购前务必用自有任务集实测。</a:t>
            </a:r>
            <a:endParaRPr lang="en-US" sz="1300" noProof="1"/>
          </a:p>
        </p:txBody>
      </p:sp>
      <p:sp>
        <p:nvSpPr>
          <p:cNvPr id="10" name="sep2"/>
          <p:cNvSpPr/>
          <p:nvPr/>
        </p:nvSpPr>
        <p:spPr>
          <a:xfrm>
            <a:off x="8636000" y="4851400"/>
            <a:ext cx="2946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1" name="p3"/>
          <p:cNvSpPr txBox="1"/>
          <p:nvPr/>
        </p:nvSpPr>
        <p:spPr>
          <a:xfrm>
            <a:off x="8636000" y="5054600"/>
            <a:ext cx="29464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落地结论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重度编码选 Claude 系；成本敏感选 Sonnet 5.5 或 GPT-6.1 Sol；自托管选 GLM-5.3 或 DeepSeek V4 Pro。</a:t>
            </a:r>
            <a:endParaRPr lang="en-US" sz="1300" noProof="1"/>
          </a:p>
        </p:txBody>
      </p:sp>
      <p:sp>
        <p:nvSpPr>
          <p:cNvPr id="12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来源：BenchLM/Vals、Morph、NeuralTrust（2026-09/10）；Terminal-Bench 版本间分数不可直接比较</a:t>
            </a:r>
            <a:endParaRPr lang="en-US" sz="1000" noProof="1"/>
          </a:p>
        </p:txBody>
      </p:sp>
      <p:sp>
        <p:nvSpPr>
          <p:cNvPr id="13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能力维度 · 多模态与长输出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上下文 1M 已成标配，输出上限与全模态成为新分水岭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pic>
        <p:nvPicPr>
          <p:cNvPr id="5" name="chart"/>
          <p:cNvPicPr/>
          <p:nvPr/>
        </p:nvPicPr>
        <p:blipFill>
          <a:blip r:embed="rId2"/>
          <a:srcRect t="-1996" b="-1996"/>
          <a:stretch>
            <a:fillRect/>
          </a:stretch>
        </p:blipFill>
        <p:spPr>
          <a:xfrm>
            <a:off x="609600" y="1422400"/>
            <a:ext cx="7112000" cy="4191000"/>
          </a:xfrm>
          <a:prstGeom prst="rect">
            <a:avLst/>
          </a:prstGeom>
          <a:ln>
            <a:noFill/>
          </a:ln>
        </p:spPr>
      </p:pic>
      <p:sp>
        <p:nvSpPr>
          <p:cNvPr id="6" name="chart-border"/>
          <p:cNvSpPr/>
          <p:nvPr/>
        </p:nvSpPr>
        <p:spPr>
          <a:xfrm>
            <a:off x="609600" y="1422400"/>
            <a:ext cx="7112000" cy="4191000"/>
          </a:xfrm>
          <a:prstGeom prst="rect">
            <a:avLst/>
          </a:prstGeom>
          <a:noFill/>
          <a:ln w="12700">
            <a:solidFill>
              <a:srgbClr val="E4E0D6"/>
            </a:solidFill>
          </a:ln>
        </p:spPr>
      </p:sp>
      <p:sp>
        <p:nvSpPr>
          <p:cNvPr id="7" name="p1"/>
          <p:cNvSpPr txBox="1"/>
          <p:nvPr/>
        </p:nvSpPr>
        <p:spPr>
          <a:xfrm>
            <a:off x="8128000" y="14732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理解侧 Google 结构性领先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唯一文/图/音/视频/PDF 统一输入；Argon 长视频理解 91.7%，领先 GPT-6 Astra 约 4 个百分点。</a:t>
            </a:r>
            <a:endParaRPr lang="en-US" sz="1300" noProof="1"/>
          </a:p>
        </p:txBody>
      </p:sp>
      <p:sp>
        <p:nvSpPr>
          <p:cNvPr id="8" name="sep1"/>
          <p:cNvSpPr/>
          <p:nvPr/>
        </p:nvSpPr>
        <p:spPr>
          <a:xfrm>
            <a:off x="8128000" y="2895600"/>
            <a:ext cx="3454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9" name="p2"/>
          <p:cNvSpPr txBox="1"/>
          <p:nvPr/>
        </p:nvSpPr>
        <p:spPr>
          <a:xfrm>
            <a:off x="8128000" y="30988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生成侧独立于语言榜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图像：OpenAI Images 2.5 四榜前二；视频：Gemini Omni 领跑，字节 Seedance 2.0 业界最佳级别。</a:t>
            </a:r>
            <a:endParaRPr lang="en-US" sz="1300" noProof="1"/>
          </a:p>
        </p:txBody>
      </p:sp>
      <p:sp>
        <p:nvSpPr>
          <p:cNvPr id="10" name="sep2"/>
          <p:cNvSpPr/>
          <p:nvPr/>
        </p:nvSpPr>
        <p:spPr>
          <a:xfrm>
            <a:off x="8128000" y="4521200"/>
            <a:ext cx="3454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1" name="p3"/>
          <p:cNvSpPr txBox="1"/>
          <p:nvPr/>
        </p:nvSpPr>
        <p:spPr>
          <a:xfrm>
            <a:off x="8128000" y="4724400"/>
            <a:ext cx="3454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开源侧仅三款全模态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Qwen3.8-Max（API）、Kimi K3、MiniMax-M3；DeepSeek V4 与 GLM-5.3 主版本为纯文本。</a:t>
            </a:r>
            <a:endParaRPr lang="en-US" sz="1300" noProof="1"/>
          </a:p>
        </p:txBody>
      </p:sp>
      <p:sp>
        <p:nvSpPr>
          <p:cNvPr id="12" name="note"/>
          <p:cNvSpPr txBox="1"/>
          <p:nvPr/>
        </p:nvSpPr>
        <p:spPr>
          <a:xfrm>
            <a:off x="609600" y="5969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B7078"/>
                </a:solidFill>
                <a:latin typeface="MiSans"/>
                <a:ea typeface="MiSans"/>
              </a:rPr>
              <a:t>「语言 + 生成」一体化闭环目前只有 OpenAI、Google、字节、Meta 四家可提供——这是闭源生态相对开源阵营最实质的护城河之一。</a:t>
            </a:r>
            <a:endParaRPr lang="en-US" sz="1100" noProof="1"/>
          </a:p>
        </p:txBody>
      </p:sp>
      <p:sp>
        <p:nvSpPr>
          <p:cNvPr id="13" name="footer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来源：Morph、Fello AI、东方财富、LargitData（2026-09/10）</a:t>
            </a:r>
            <a:endParaRPr lang="en-US" sz="1000" noProof="1"/>
          </a:p>
        </p:txBody>
      </p:sp>
      <p:sp>
        <p:nvSpPr>
          <p:cNvPr id="14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价格与性价比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四个价格带成型，单任务成本才是真实口径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pic>
        <p:nvPicPr>
          <p:cNvPr id="5" name="chart"/>
          <p:cNvPicPr/>
          <p:nvPr/>
        </p:nvPicPr>
        <p:blipFill>
          <a:blip r:embed="rId2"/>
          <a:srcRect t="-7040" b="-7040"/>
          <a:stretch>
            <a:fillRect/>
          </a:stretch>
        </p:blipFill>
        <p:spPr>
          <a:xfrm>
            <a:off x="609600" y="1422400"/>
            <a:ext cx="7493000" cy="4762500"/>
          </a:xfrm>
          <a:prstGeom prst="rect">
            <a:avLst/>
          </a:prstGeom>
          <a:ln>
            <a:noFill/>
          </a:ln>
        </p:spPr>
      </p:pic>
      <p:sp>
        <p:nvSpPr>
          <p:cNvPr id="6" name="chart-border"/>
          <p:cNvSpPr/>
          <p:nvPr/>
        </p:nvSpPr>
        <p:spPr>
          <a:xfrm>
            <a:off x="609600" y="1422400"/>
            <a:ext cx="7493000" cy="4762500"/>
          </a:xfrm>
          <a:prstGeom prst="rect">
            <a:avLst/>
          </a:prstGeom>
          <a:noFill/>
          <a:ln w="12700">
            <a:solidFill>
              <a:srgbClr val="E4E0D6"/>
            </a:solidFill>
          </a:ln>
        </p:spPr>
      </p:sp>
      <p:sp>
        <p:nvSpPr>
          <p:cNvPr id="7" name="p1"/>
          <p:cNvSpPr txBox="1"/>
          <p:nvPr/>
        </p:nvSpPr>
        <p:spPr>
          <a:xfrm>
            <a:off x="8509000" y="1498600"/>
            <a:ext cx="30734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单价 ≠ 账单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Opus 5.5 单任务成本 $19.07，是 GPT-6 Astra（$8.21）的 2.3 倍；Grok 4.7 单任务输出 8.1 万 token。</a:t>
            </a:r>
            <a:endParaRPr lang="en-US" sz="1300" noProof="1"/>
          </a:p>
        </p:txBody>
      </p:sp>
      <p:sp>
        <p:nvSpPr>
          <p:cNvPr id="8" name="sep1"/>
          <p:cNvSpPr/>
          <p:nvPr/>
        </p:nvSpPr>
        <p:spPr>
          <a:xfrm>
            <a:off x="8509000" y="3048000"/>
            <a:ext cx="3073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9" name="p2"/>
          <p:cNvSpPr txBox="1"/>
          <p:nvPr/>
        </p:nvSpPr>
        <p:spPr>
          <a:xfrm>
            <a:off x="8509000" y="3251200"/>
            <a:ext cx="30734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缓存是隐藏杠杆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DeepSeek V4 Pro 缓存命中输入价 $0.0036/百万 token，比未命中低两个数量级；Argon 缓存输入降 95%。</a:t>
            </a:r>
            <a:endParaRPr lang="en-US" sz="1300" noProof="1"/>
          </a:p>
        </p:txBody>
      </p:sp>
      <p:sp>
        <p:nvSpPr>
          <p:cNvPr id="10" name="sep2"/>
          <p:cNvSpPr/>
          <p:nvPr/>
        </p:nvSpPr>
        <p:spPr>
          <a:xfrm>
            <a:off x="8509000" y="4800600"/>
            <a:ext cx="30734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1" name="p3"/>
          <p:cNvSpPr txBox="1"/>
          <p:nvPr/>
        </p:nvSpPr>
        <p:spPr>
          <a:xfrm>
            <a:off x="8509000" y="5003800"/>
            <a:ext cx="3073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一个数量级的差距</a:t>
            </a:r>
            <a:endParaRPr lang="en-US" sz="13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月耗 1 亿输入 + 2000 万输出的中型 RAG 应用：GPT-4o 约 $450，DeepSeek V4 Pro 约 $38。</a:t>
            </a:r>
            <a:endParaRPr lang="en-US" sz="1300" noProof="1"/>
          </a:p>
        </p:txBody>
      </p:sp>
      <p:sp>
        <p:nvSpPr>
          <p:cNvPr id="12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来源：各厂商定价页、Swfte、TheRouter、MyClaw（2026-10-05）；DeepSeek/OpenAI 报告期内均有调价</a:t>
            </a:r>
            <a:endParaRPr lang="en-US" sz="1000" noProof="1"/>
          </a:p>
        </p:txBody>
      </p:sp>
      <p:sp>
        <p:nvSpPr>
          <p:cNvPr id="13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16</a:t>
            </a:r>
            <a:endParaRPr lang="en-US" sz="10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结构性拐点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2026 开源拐点：美国开源退场，中国开源接棒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pic>
        <p:nvPicPr>
          <p:cNvPr id="5" name="chart"/>
          <p:cNvPicPr/>
          <p:nvPr/>
        </p:nvPicPr>
        <p:blipFill>
          <a:blip r:embed="rId2"/>
          <a:srcRect t="-3751" b="-3751"/>
          <a:stretch>
            <a:fillRect/>
          </a:stretch>
        </p:blipFill>
        <p:spPr>
          <a:xfrm>
            <a:off x="609600" y="1422400"/>
            <a:ext cx="5969000" cy="4064000"/>
          </a:xfrm>
          <a:prstGeom prst="rect">
            <a:avLst/>
          </a:prstGeom>
          <a:ln>
            <a:noFill/>
          </a:ln>
        </p:spPr>
      </p:pic>
      <p:sp>
        <p:nvSpPr>
          <p:cNvPr id="6" name="chart-border"/>
          <p:cNvSpPr/>
          <p:nvPr/>
        </p:nvSpPr>
        <p:spPr>
          <a:xfrm>
            <a:off x="609600" y="1422400"/>
            <a:ext cx="5969000" cy="4064000"/>
          </a:xfrm>
          <a:prstGeom prst="rect">
            <a:avLst/>
          </a:prstGeom>
          <a:noFill/>
          <a:ln w="12700">
            <a:solidFill>
              <a:srgbClr val="E4E0D6"/>
            </a:solidFill>
          </a:ln>
        </p:spPr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858000" y="1422400"/>
          <a:ext cx="4724400" cy="4064000"/>
        </p:xfrm>
        <a:graphic>
          <a:graphicData uri="http://schemas.openxmlformats.org/drawingml/2006/table">
            <a:tbl>
              <a:tblPr/>
              <a:tblGrid>
                <a:gridCol w="1700784"/>
                <a:gridCol w="1133856"/>
                <a:gridCol w="1889760"/>
              </a:tblGrid>
              <a:tr h="406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许可证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自托管门槛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DeepSeek V4 Flash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小型集群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GLM-5.3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单节点 8×H100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MiniMax M3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社区许可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中等集群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Qwen3.8-2.4T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专属许可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多节点集群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Kimi K3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自定义*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多节点集群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DeepSeek V4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大型集群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5689600"/>
            <a:ext cx="10972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B7078"/>
                </a:solidFill>
                <a:latin typeface="MiSans"/>
                <a:ea typeface="MiSans"/>
              </a:rPr>
              <a:t>开源能力榜前列已全面由中国厂商占据，许可证普遍宽松（MIT/Apache 2.0，允许商用与二次开发）；* Kimi K3 为自定义许可，商用前需审阅条款。对强监管行业与用量巨大的企业，「开源权重私有化 + 按场景路由」的 TCO 拐点已经到来。</a:t>
            </a:r>
            <a:endParaRPr lang="en-US" sz="1100" noProof="1"/>
          </a:p>
        </p:txBody>
      </p:sp>
      <p:sp>
        <p:nvSpPr>
          <p:cNvPr id="9" name="footer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来源：LargitData、七牛云、CellCog、shattered.io（2026-07 至 2026-10）</a:t>
            </a:r>
            <a:endParaRPr lang="en-US" sz="1000" noProof="1"/>
          </a:p>
        </p:txBody>
      </p:sp>
      <p:sp>
        <p:nvSpPr>
          <p:cNvPr id="10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17</a:t>
            </a:r>
            <a:endParaRPr lang="en-US" sz="10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可靠性与合规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可靠性与数据主权：政策制定者需要看到的另一条轴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h1"/>
          <p:cNvSpPr txBox="1"/>
          <p:nvPr/>
        </p:nvSpPr>
        <p:spPr>
          <a:xfrm>
            <a:off x="609600" y="1498600"/>
            <a:ext cx="528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C1E21"/>
                </a:solidFill>
                <a:latin typeface="Alimama ShuHeiTi"/>
                <a:ea typeface="Alimama ShuHeiTi"/>
              </a:rPr>
              <a:t>事实准确性与安全行为</a:t>
            </a:r>
            <a:endParaRPr lang="en-US" sz="1600" noProof="1"/>
          </a:p>
        </p:txBody>
      </p:sp>
      <p:sp>
        <p:nvSpPr>
          <p:cNvPr id="6" name="b1"/>
          <p:cNvSpPr txBox="1"/>
          <p:nvPr/>
        </p:nvSpPr>
        <p:spPr>
          <a:xfrm>
            <a:off x="609600" y="1905000"/>
            <a:ext cx="52832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Anthropic 是标杆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：Fable 5.1 以 67% 创下 AA 实测最高事实准确率；Opus 5 被定位为「迄今最安全对齐的模型」，代价是攻击性网络安全任务刻意受限（漏洞武器化成功率 4/14，而受限更少的 Mythos 5 为 13/14）。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OpenAI 的隐患在行为层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：系统卡与 METR 均标记 GPT-5.6 Sol 存在偏高的 scheming 行为。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xAI 进步但基数偏低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：Grok 4.7 幻觉率 34% → 29%，仍是头部较高水平。</a:t>
            </a:r>
            <a:endParaRPr lang="en-US" sz="1300" noProof="1"/>
          </a:p>
        </p:txBody>
      </p:sp>
      <p:sp>
        <p:nvSpPr>
          <p:cNvPr id="7" name="h2"/>
          <p:cNvSpPr txBox="1"/>
          <p:nvPr/>
        </p:nvSpPr>
        <p:spPr>
          <a:xfrm>
            <a:off x="6299200" y="1498600"/>
            <a:ext cx="528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C1E21"/>
                </a:solidFill>
                <a:latin typeface="Alimama ShuHeiTi"/>
                <a:ea typeface="Alimama ShuHeiTi"/>
              </a:rPr>
              <a:t>数据主权的三条路径</a:t>
            </a:r>
            <a:endParaRPr lang="en-US" sz="1600" noProof="1"/>
          </a:p>
        </p:txBody>
      </p:sp>
      <p:sp>
        <p:nvSpPr>
          <p:cNvPr id="8" name="b2"/>
          <p:cNvSpPr txBox="1"/>
          <p:nvPr/>
        </p:nvSpPr>
        <p:spPr>
          <a:xfrm>
            <a:off x="6299200" y="1905000"/>
            <a:ext cx="52832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路径一 · 开源私有化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：对受《数据安全法》约束的国内敏感行业，Qwen / DeepSeek / GLM / Kimi 私有化部署几乎是唯一合规路径。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路径二 · 区域托管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：DeepSeek 官方 API 数据路由至中国服务器，西方企业经 Fireworks / Together 等托管；欧盟企业可选 Mistral 与欧洲托管。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路径三 · 出口管制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：Claude Mythos 5 仅限美国获批机构——尖端模型跨境流动已成为政策变量。</a:t>
            </a:r>
            <a:endParaRPr lang="en-US" sz="1300" noProof="1"/>
          </a:p>
        </p:txBody>
      </p:sp>
      <p:sp>
        <p:nvSpPr>
          <p:cNvPr id="9" name="sep"/>
          <p:cNvSpPr/>
          <p:nvPr/>
        </p:nvSpPr>
        <p:spPr>
          <a:xfrm>
            <a:off x="609600" y="47244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0" name="takeaway"/>
          <p:cNvSpPr txBox="1"/>
          <p:nvPr/>
        </p:nvSpPr>
        <p:spPr>
          <a:xfrm>
            <a:off x="609600" y="4978400"/>
            <a:ext cx="109728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C4532E"/>
                </a:solidFill>
                <a:latin typeface="MiSans"/>
                <a:ea typeface="MiSans"/>
              </a:rPr>
              <a:t>对决策者的含义</a:t>
            </a:r>
            <a:r>
              <a:rPr lang="en-US" sz="1300" noProof="1">
                <a:solidFill>
                  <a:srgbClr val="1C1E21"/>
                </a:solidFill>
                <a:latin typeface="MiSans"/>
                <a:ea typeface="MiSans"/>
              </a:rPr>
              <a:t>：幻觉率与对齐水平决定模型能否进入法律、医疗、金融等严肃场景；数据主权决定「能用谁」；而开源权重生态的成熟度（MIT 许可、国产硬件训练案例）使「自主可控的准前沿智能」在 2026 年首次成为现实选项。模型采购已不只是技术决策，更是合规与供应链决策。</a:t>
            </a:r>
            <a:endParaRPr lang="en-US" sz="1300" noProof="1"/>
          </a:p>
        </p:txBody>
      </p:sp>
      <p:sp>
        <p:nvSpPr>
          <p:cNvPr id="11" name="footer"/>
          <p:cNvSpPr txBox="1"/>
          <p:nvPr/>
        </p:nvSpPr>
        <p:spPr>
          <a:xfrm>
            <a:off x="609600" y="64770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来源：Fello AI、EffectStory、Artificial Analysis、TheRouter、OpenAI 系统卡（2026-09/10）</a:t>
            </a:r>
            <a:endParaRPr lang="en-US" sz="1000" noProof="1"/>
          </a:p>
        </p:txBody>
      </p:sp>
      <p:sp>
        <p:nvSpPr>
          <p:cNvPr id="12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18</a:t>
            </a:r>
            <a:endParaRPr lang="en-US" sz="10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选型建议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先定约束，再选档位，最后才看榜单名次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609600" y="1422400"/>
          <a:ext cx="10972800" cy="4724400"/>
        </p:xfrm>
        <a:graphic>
          <a:graphicData uri="http://schemas.openxmlformats.org/drawingml/2006/table">
            <a:tbl>
              <a:tblPr/>
              <a:tblGrid>
                <a:gridCol w="2633472"/>
                <a:gridCol w="2414016"/>
                <a:gridCol w="2414016"/>
                <a:gridCol w="3511296"/>
              </a:tblGrid>
              <a:tr h="42519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你的场景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首选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备选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E21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复杂编码智能体 / 长程工程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Claude Opus 5.5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Sonnet 5.5、GPT-6 Astra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Terminal-Bench / SWE-bench Pro 双纪录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抽象推理 / 数学 / 研究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GPT-6 Astra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GPT-6.1 Sol（成本 1/5）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ARC-AGI-2 约 95%，LiveBench 榜首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长视频/音频理解、超大输出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Gemini 4 Argon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Gemini 3.1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LVBench 91.7%，1M 输出；注意限 Fairwind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日常对话与写作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Fable 5.1 / Sonnet 5.5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GPT-5.6（ChatGPT 默认）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三大散文榜综合最佳；Sonnet 5.5 免费档可用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高并发、成本敏感 API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DeepSeek V4 Flash / GPT-6 Luna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Gemini 3.8 Flash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$0.1–0.7 价格带，性能够用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私有化部署（国内合规）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GLM-5.3 / DeepSeek V4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Qwen3.8 开源版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MIT 许可、中文能力强、数据不出域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中文消费级体验 / 内容创作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豆包 2.0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Kimi K3（长文/小说）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语言自然度最佳 + Seedance/Seedream 生态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实时资讯 / 低限制场景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Grok 4.7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唯一 X 实时接入，内容限制最少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1EEE6"/>
                    </a:solidFill>
                  </a:tcPr>
                </a:tc>
              </a:tr>
              <a:tr h="53716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欧洲合规（GDPR）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Mistral Medium 3.5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各家欧洲托管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C1E21"/>
                          </a:solidFill>
                          <a:latin typeface="MiSans"/>
                          <a:ea typeface="MiSans"/>
                        </a:rPr>
                        <a:t>主权合规优先于峰值性能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0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609600" y="6223000"/>
            <a:ext cx="1016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头部模型间榜单差距（约 5 个指数分）已小于同一模型在不同任务类型间的表现方差</a:t>
            </a:r>
            <a:endParaRPr lang="en-US" sz="1000" noProof="1"/>
          </a:p>
        </p:txBody>
      </p:sp>
      <p:sp>
        <p:nvSpPr>
          <p:cNvPr id="7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19</a:t>
            </a:r>
            <a:endParaRPr lang="en-US" sz="10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4532E"/>
                </a:solidFill>
                <a:latin typeface="MiSans"/>
                <a:ea typeface="MiSans"/>
              </a:rPr>
              <a:t>口径与提醒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858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C1E21"/>
                </a:solidFill>
                <a:latin typeface="Alimama ShuHeiTi"/>
                <a:ea typeface="Alimama ShuHeiTi"/>
              </a:rPr>
              <a:t>使用本报告前，请记住三条提醒</a:t>
            </a:r>
            <a:endParaRPr lang="en-US" sz="2500" noProof="1"/>
          </a:p>
        </p:txBody>
      </p:sp>
      <p:sp>
        <p:nvSpPr>
          <p:cNvPr id="4" name="bar"/>
          <p:cNvSpPr/>
          <p:nvPr/>
        </p:nvSpPr>
        <p:spPr>
          <a:xfrm>
            <a:off x="609600" y="1193800"/>
            <a:ext cx="711200" cy="50800"/>
          </a:xfrm>
          <a:prstGeom prst="rect">
            <a:avLst/>
          </a:prstGeom>
          <a:solidFill>
            <a:srgbClr val="C4532E"/>
          </a:solidFill>
          <a:ln>
            <a:noFill/>
          </a:ln>
        </p:spPr>
      </p:sp>
      <p:sp>
        <p:nvSpPr>
          <p:cNvPr id="5" name="n1"/>
          <p:cNvSpPr txBox="1"/>
          <p:nvPr/>
        </p:nvSpPr>
        <p:spPr>
          <a:xfrm>
            <a:off x="609600" y="16002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C4532E"/>
                </a:solidFill>
                <a:latin typeface="Alimama ShuHeiTi"/>
                <a:ea typeface="Alimama ShuHeiTi"/>
              </a:rPr>
              <a:t>01</a:t>
            </a:r>
            <a:endParaRPr lang="en-US" sz="2600" noProof="1"/>
          </a:p>
        </p:txBody>
      </p:sp>
      <p:sp>
        <p:nvSpPr>
          <p:cNvPr id="6" name="t1"/>
          <p:cNvSpPr txBox="1"/>
          <p:nvPr/>
        </p:nvSpPr>
        <p:spPr>
          <a:xfrm>
            <a:off x="1524000" y="1600200"/>
            <a:ext cx="10058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警惕厂商自报基准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3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交叉比对显示自报值与中立框架复现的差距普遍在 5–20 个百分点，极端案例超过 17 个百分点。采购决策前，请用自己的任务集做小规模实测。</a:t>
            </a:r>
            <a:endParaRPr lang="en-US" sz="1300" noProof="1"/>
          </a:p>
        </p:txBody>
      </p:sp>
      <p:sp>
        <p:nvSpPr>
          <p:cNvPr id="7" name="sep1"/>
          <p:cNvSpPr/>
          <p:nvPr/>
        </p:nvSpPr>
        <p:spPr>
          <a:xfrm>
            <a:off x="609600" y="28194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8" name="n2"/>
          <p:cNvSpPr txBox="1"/>
          <p:nvPr/>
        </p:nvSpPr>
        <p:spPr>
          <a:xfrm>
            <a:off x="609600" y="30480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C4532E"/>
                </a:solidFill>
                <a:latin typeface="Alimama ShuHeiTi"/>
                <a:ea typeface="Alimama ShuHeiTi"/>
              </a:rPr>
              <a:t>02</a:t>
            </a:r>
            <a:endParaRPr lang="en-US" sz="2600" noProof="1"/>
          </a:p>
        </p:txBody>
      </p:sp>
      <p:sp>
        <p:nvSpPr>
          <p:cNvPr id="9" name="t2"/>
          <p:cNvSpPr txBox="1"/>
          <p:nvPr/>
        </p:nvSpPr>
        <p:spPr>
          <a:xfrm>
            <a:off x="1524000" y="3048000"/>
            <a:ext cx="10058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关注计费结构而非单价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3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长上下文阶梯价（Gemini、Grok 超 200K 翻倍）、峰谷定价（DeepSeek 峰时翻倍）、缓存折扣（Argon 缓存输入降 95%）对账单的影响经常超过模型选择本身。</a:t>
            </a:r>
            <a:endParaRPr lang="en-US" sz="1300" noProof="1"/>
          </a:p>
        </p:txBody>
      </p:sp>
      <p:sp>
        <p:nvSpPr>
          <p:cNvPr id="10" name="sep2"/>
          <p:cNvSpPr/>
          <p:nvPr/>
        </p:nvSpPr>
        <p:spPr>
          <a:xfrm>
            <a:off x="609600" y="4267200"/>
            <a:ext cx="10972800" cy="12700"/>
          </a:xfrm>
          <a:prstGeom prst="rect">
            <a:avLst/>
          </a:prstGeom>
          <a:solidFill>
            <a:srgbClr val="E4E0D6"/>
          </a:solidFill>
          <a:ln>
            <a:noFill/>
          </a:ln>
        </p:spPr>
      </p:sp>
      <p:sp>
        <p:nvSpPr>
          <p:cNvPr id="11" name="n3"/>
          <p:cNvSpPr txBox="1"/>
          <p:nvPr/>
        </p:nvSpPr>
        <p:spPr>
          <a:xfrm>
            <a:off x="609600" y="4495800"/>
            <a:ext cx="71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C4532E"/>
                </a:solidFill>
                <a:latin typeface="Alimama ShuHeiTi"/>
                <a:ea typeface="Alimama ShuHeiTi"/>
              </a:rPr>
              <a:t>03</a:t>
            </a:r>
            <a:endParaRPr lang="en-US" sz="2600" noProof="1"/>
          </a:p>
        </p:txBody>
      </p:sp>
      <p:sp>
        <p:nvSpPr>
          <p:cNvPr id="12" name="t3"/>
          <p:cNvSpPr txBox="1"/>
          <p:nvPr/>
        </p:nvSpPr>
        <p:spPr>
          <a:xfrm>
            <a:off x="1524000" y="4495800"/>
            <a:ext cx="10058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C1E21"/>
                </a:solidFill>
                <a:latin typeface="MiSans"/>
                <a:ea typeface="MiSans"/>
              </a:rPr>
              <a:t>为「换模型」留好架构余量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300"/>
              </a:spcBef>
            </a:pPr>
            <a:r>
              <a:rPr lang="en-US" sz="1300" noProof="1">
                <a:solidFill>
                  <a:srgbClr val="6B7078"/>
                </a:solidFill>
                <a:latin typeface="MiSans"/>
                <a:ea typeface="MiSans"/>
              </a:rPr>
              <a:t>以当前 6–10 周的旗舰迭代速度，任何深度绑定单一模型特性的系统都会在半年内过时。API 抽象层与多模型路由已是从业标配。</a:t>
            </a:r>
            <a:endParaRPr lang="en-US" sz="1300" noProof="1"/>
          </a:p>
        </p:txBody>
      </p:sp>
      <p:sp>
        <p:nvSpPr>
          <p:cNvPr id="13" name="disclaimer"/>
          <p:cNvSpPr txBox="1"/>
          <p:nvPr/>
        </p:nvSpPr>
        <p:spPr>
          <a:xfrm>
            <a:off x="609600" y="58166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口径说明：AA 智能指数对国产模型的最近同口径快照为 2026 年 7–8 月；Terminal-Bench 各版本分数不可互比；Gemini 4 Argon 厂商基准发布时未获第三方复现；所有价格为发布时点公开牌价。本报告为一般性研究信息，不构成采购、投资或法律建议。</a:t>
            </a:r>
            <a:endParaRPr lang="en-US" sz="1000" noProof="1"/>
          </a:p>
        </p:txBody>
      </p:sp>
      <p:sp>
        <p:nvSpPr>
          <p:cNvPr id="14" name="pageno"/>
          <p:cNvSpPr txBox="1"/>
          <p:nvPr/>
        </p:nvSpPr>
        <p:spPr>
          <a:xfrm>
            <a:off x="11176000" y="64770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000" noProof="1">
                <a:solidFill>
                  <a:srgbClr val="6B7078"/>
                </a:solidFill>
                <a:latin typeface="MiSans"/>
                <a:ea typeface="MiSans"/>
              </a:rPr>
              <a:t>20</a:t>
            </a:r>
            <a:endParaRPr lang="en-US" sz="10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C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37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400" kern="0">
                <a:solidFill>
                  <a:srgbClr val="E8B04B"/>
                </a:solidFill>
                <a:latin typeface="MiSans"/>
                <a:ea typeface="MiSans"/>
              </a:rPr>
              <a:t>问答环节</a:t>
            </a:r>
            <a:endParaRPr lang="en-US" sz="1200" noProof="1"/>
          </a:p>
        </p:txBody>
      </p:sp>
      <p:sp>
        <p:nvSpPr>
          <p:cNvPr id="3" name="rule1"/>
          <p:cNvSpPr/>
          <p:nvPr/>
        </p:nvSpPr>
        <p:spPr>
          <a:xfrm>
            <a:off x="812800" y="1778000"/>
            <a:ext cx="914400" cy="50800"/>
          </a:xfrm>
          <a:prstGeom prst="rect">
            <a:avLst/>
          </a:prstGeom>
          <a:solidFill>
            <a:srgbClr val="E8B04B"/>
          </a:solidFill>
          <a:ln>
            <a:noFill/>
          </a:ln>
        </p:spPr>
      </p:sp>
      <p:sp>
        <p:nvSpPr>
          <p:cNvPr id="4" name="main"/>
          <p:cNvSpPr txBox="1"/>
          <p:nvPr/>
        </p:nvSpPr>
        <p:spPr>
          <a:xfrm>
            <a:off x="812800" y="22098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7F5F0"/>
                </a:solidFill>
                <a:latin typeface="Alimama ShuHeiTi"/>
                <a:ea typeface="Alimama ShuHeiTi"/>
              </a:rPr>
              <a:t>Q &amp; A · 欢迎提问</a:t>
            </a:r>
            <a:endParaRPr lang="en-US" sz="3400" noProof="1"/>
          </a:p>
        </p:txBody>
      </p:sp>
      <p:sp>
        <p:nvSpPr>
          <p:cNvPr id="5" name="hint"/>
          <p:cNvSpPr txBox="1"/>
          <p:nvPr/>
        </p:nvSpPr>
        <p:spPr>
          <a:xfrm>
            <a:off x="812800" y="31750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B9BDC4"/>
                </a:solidFill>
                <a:latin typeface="MiSans"/>
                <a:ea typeface="MiSans"/>
              </a:rPr>
              <a:t>可能被问到的四个问题，先给出我们的回答要点</a:t>
            </a:r>
            <a:endParaRPr lang="en-US" sz="1400" noProof="1"/>
          </a:p>
        </p:txBody>
      </p:sp>
      <p:sp>
        <p:nvSpPr>
          <p:cNvPr id="6" name="q1"/>
          <p:cNvSpPr txBox="1"/>
          <p:nvPr/>
        </p:nvSpPr>
        <p:spPr>
          <a:xfrm>
            <a:off x="812800" y="3708400"/>
            <a:ext cx="508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B04B"/>
                </a:solidFill>
                <a:latin typeface="MiSans"/>
                <a:ea typeface="MiSans"/>
              </a:rPr>
              <a:t>国产模型能替代美系旗舰吗？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B9BDC4"/>
                </a:solidFill>
                <a:latin typeface="MiSans"/>
                <a:ea typeface="MiSans"/>
              </a:rPr>
              <a:t>智能体工程类任务已接近，极限推理与多模态仍有差距；按场景混合路由是当下最优解。</a:t>
            </a:r>
            <a:endParaRPr lang="en-US" sz="1200" noProof="1"/>
          </a:p>
        </p:txBody>
      </p:sp>
      <p:sp>
        <p:nvSpPr>
          <p:cNvPr id="7" name="q2"/>
          <p:cNvSpPr txBox="1"/>
          <p:nvPr/>
        </p:nvSpPr>
        <p:spPr>
          <a:xfrm>
            <a:off x="6299200" y="3708400"/>
            <a:ext cx="508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B04B"/>
                </a:solidFill>
                <a:latin typeface="MiSans"/>
                <a:ea typeface="MiSans"/>
              </a:rPr>
              <a:t>政务场景如何合规落地？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B9BDC4"/>
                </a:solidFill>
                <a:latin typeface="MiSans"/>
                <a:ea typeface="MiSans"/>
              </a:rPr>
              <a:t>开源权重私有化部署是唯一硬合规路径：GLM-5.3、DeepSeek V4 Pro、Qwen3.8 开源版均为 MIT/宽松许可。</a:t>
            </a:r>
            <a:endParaRPr lang="en-US" sz="1200" noProof="1"/>
          </a:p>
        </p:txBody>
      </p:sp>
      <p:sp>
        <p:nvSpPr>
          <p:cNvPr id="8" name="q3"/>
          <p:cNvSpPr txBox="1"/>
          <p:nvPr/>
        </p:nvSpPr>
        <p:spPr>
          <a:xfrm>
            <a:off x="812800" y="4978400"/>
            <a:ext cx="508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B04B"/>
                </a:solidFill>
                <a:latin typeface="MiSans"/>
                <a:ea typeface="MiSans"/>
              </a:rPr>
              <a:t>价格还会继续降吗？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B9BDC4"/>
                </a:solidFill>
                <a:latin typeface="MiSans"/>
                <a:ea typeface="MiSans"/>
              </a:rPr>
              <a:t>主力档地板价 $2/$10 已确立；竞争正转向缓存、峰谷等计费结构，账单优化空间大于单价下降空间。</a:t>
            </a:r>
            <a:endParaRPr lang="en-US" sz="1200" noProof="1"/>
          </a:p>
        </p:txBody>
      </p:sp>
      <p:sp>
        <p:nvSpPr>
          <p:cNvPr id="9" name="q4"/>
          <p:cNvSpPr txBox="1"/>
          <p:nvPr/>
        </p:nvSpPr>
        <p:spPr>
          <a:xfrm>
            <a:off x="6299200" y="4978400"/>
            <a:ext cx="508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E8B04B"/>
                </a:solidFill>
                <a:latin typeface="MiSans"/>
                <a:ea typeface="MiSans"/>
              </a:rPr>
              <a:t>榜单多久会过时？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B9BDC4"/>
                </a:solidFill>
                <a:latin typeface="MiSans"/>
                <a:ea typeface="MiSans"/>
              </a:rPr>
              <a:t>旗舰迭代周期 6–10 周，任何排名结论保质期不超过一个季度；请把本报告当作 2026 年 10 月的快照。</a:t>
            </a:r>
            <a:endParaRPr lang="en-US" sz="1200" noProof="1"/>
          </a:p>
        </p:txBody>
      </p:sp>
      <p:sp>
        <p:nvSpPr>
          <p:cNvPr id="10" name="rule2"/>
          <p:cNvSpPr/>
          <p:nvPr/>
        </p:nvSpPr>
        <p:spPr>
          <a:xfrm>
            <a:off x="812800" y="6299200"/>
            <a:ext cx="10566400" cy="12700"/>
          </a:xfrm>
          <a:prstGeom prst="rect">
            <a:avLst/>
          </a:prstGeom>
          <a:solidFill>
            <a:srgbClr val="3A3D42"/>
          </a:solidFill>
          <a:ln>
            <a:noFill/>
          </a:ln>
        </p:spPr>
      </p:sp>
      <p:sp>
        <p:nvSpPr>
          <p:cNvPr id="11" name="thanks"/>
          <p:cNvSpPr txBox="1"/>
          <p:nvPr/>
        </p:nvSpPr>
        <p:spPr>
          <a:xfrm>
            <a:off x="812800" y="645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C828A"/>
                </a:solidFill>
                <a:latin typeface="MiSans"/>
                <a:ea typeface="MiSans"/>
              </a:rPr>
              <a:t>数据截至 2026-10-05 · 基于 100+ 公开来源交叉验证 · 谢谢聆听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21</Slides>
</Properties>
</file>

<file path=docProps/core.xml><?xml version="1.0" encoding="utf-8"?>
<cp:coreProperties xmlns:dc="http://purl.org/dc/elements/1.1/" xmlns:cp="http://schemas.openxmlformats.org/package/2006/metadata/core-properties">
  <dc:title>主流大模型厂商旗舰能力全景对比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